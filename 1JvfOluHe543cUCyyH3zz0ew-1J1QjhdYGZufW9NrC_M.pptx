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E8938E-430A-4957-8D8D-4163EB6DB31E}">
  <a:tblStyle styleId="{1DE8938E-430A-4957-8D8D-4163EB6DB31E}"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video will show you how to clone a Terra Workspace.  Workspaces are where analyses takes place on AnVIL.  Cloning an existing Workspace allows you to copy existing documentation, code, and/or data into your own experimental space so that you can use it yourself.</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7989bd4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7989bd4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Terra</a:t>
            </a:r>
            <a:r>
              <a:rPr lang="en">
                <a:solidFill>
                  <a:schemeClr val="dk1"/>
                </a:solidFill>
              </a:rPr>
              <a:t> using your Google ID.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7989bd49c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7989bd49c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a:t>
            </a:r>
            <a:r>
              <a:rPr lang="en">
                <a:solidFill>
                  <a:schemeClr val="dk1"/>
                </a:solidFill>
              </a:rPr>
              <a:t>n order to clone a Workspace, you must be a member of a Terra Billing Project.  To see whether you belong to any Terra Billing Projects, c</a:t>
            </a:r>
            <a:r>
              <a:rPr lang="en">
                <a:solidFill>
                  <a:schemeClr val="dk1"/>
                </a:solidFill>
              </a:rPr>
              <a:t>lick the triple bar in the top left corner to access the drop-down menu, then click the arrow next to your name to expand the menu, and click “Billing”.  If you are not a member of an active Billing Project, you will need to either be added to an </a:t>
            </a:r>
            <a:r>
              <a:rPr lang="en">
                <a:solidFill>
                  <a:schemeClr val="dk1"/>
                </a:solidFill>
              </a:rPr>
              <a:t>existing Billing Project or </a:t>
            </a:r>
            <a:r>
              <a:rPr lang="en">
                <a:solidFill>
                  <a:schemeClr val="dk1"/>
                </a:solidFill>
              </a:rPr>
              <a:t>set one up yourself before you can clone a Workspace.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7989bd49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7989bd49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create a Workspace, click the triple bar in the top left corner to access the drop-down menu, then click “Workspaces”.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7abafa4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7abafa4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Locate the Workspace you want to clone. If a Workspace has been shared with you ahead of time, it will appear in “MY WORKSPACES”. In this screenshot, no Workspaces have been shared.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17abafa45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17abafa45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a Workspace has not been shared with you, navigate to the “FEATURED” or “PUBLIC” Workspace tabs.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7abafa453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7abafa453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the search box to find the Workspace you want to clone.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17abafa453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17abafa453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the teardrop button on the far right next to the Workspace you want to clone. Click “Clone”.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7abafa453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7abafa453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Alternatively, you can clone the Workspace from within the Workspace Dashboard instead of the search results.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17abafa453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17abafa453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popup box, n</a:t>
            </a:r>
            <a:r>
              <a:rPr lang="en"/>
              <a:t>ame your Workspace and select the appropriate Billing Project. </a:t>
            </a:r>
            <a:r>
              <a:rPr lang="en">
                <a:solidFill>
                  <a:schemeClr val="dk1"/>
                </a:solidFill>
              </a:rPr>
              <a:t>Note that all activity in the Workspace will be charged to this Billing Project, regardless of who conducts 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17abafa453_0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17abafa453_0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If you are working with protected data, you can set an Authorization Domain to limit who can be added to your Workspace. Note that the Authorization Domain cannot be changed after the Workspace is created, which can make it difficult if you later need to share your Workspace more broadly. When cloning a Workspace, the new Workspace will automatically inherit any Authorization Domains that were applied to the original Workspace.</a:t>
            </a:r>
            <a:endParaRPr>
              <a:solidFill>
                <a:schemeClr val="dk1"/>
              </a:solidFill>
            </a:endParaRPr>
          </a:p>
          <a:p>
            <a:pPr indent="0" lvl="0" marL="0" rtl="0" algn="l">
              <a:spcBef>
                <a:spcPts val="0"/>
              </a:spcBef>
              <a:spcAft>
                <a:spcPts val="0"/>
              </a:spcAft>
              <a:buNone/>
            </a:pPr>
            <a:r>
              <a:rPr lang="en">
                <a:solidFill>
                  <a:schemeClr val="dk1"/>
                </a:solidFill>
              </a:rPr>
              <a:t>Authorization domains add an extra layer of enforcement over privacy, but by nature make sharing more complicated. We generally recommend using Authorization Domains only in cases where it is extremely important or legally required that the data be kept private, such as protected patient data or confidential industry data.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17abafa453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17abafa453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Click “CLONE WORKSPACE”.  The new Workspace should now show up under your Workspaces. Congratulations! You have cloned a Workspace and can now use and modify your copy of the Workspace’s content.  Note that when cloning, AnVIL makes a copy of the documentation, notebooks and code for you to modify, but data is linked back to the original Workspace, which saves space!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7989bd49c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7989bd49c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When managing your Workspace, it’s important to remember that all activity in the Workspace will be charged to the Workspaces’ Billing Project, regardless of who conducts it, and to exercise caution when sharing your Workspace.  You can safely add people as Readers, but you should only add people as Writers or Owners if their activity should be funded by your Billing Project.  Adding someone as a Reader enables them to make their own clone of your Workspace, which can be useful if they need to conduct activity funded by a different Billing Project.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hyperlink" Target="https://anvil.terra.bio/#workspaces" TargetMode="External"/><Relationship Id="rId5" Type="http://schemas.openxmlformats.org/officeDocument/2006/relationships/hyperlink" Target="https://creativecommons.org/licenses/by/4.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hyperlink" Target="https://anvil.terra.bio/#workspaces" TargetMode="External"/><Relationship Id="rId5" Type="http://schemas.openxmlformats.org/officeDocument/2006/relationships/hyperlink" Target="https://creativecommons.org/licenses/by/4.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hyperlink" Target="https://anvil.terra.bio/#workspaces" TargetMode="External"/><Relationship Id="rId5" Type="http://schemas.openxmlformats.org/officeDocument/2006/relationships/hyperlink" Target="https://creativecommons.org/licenses/by/4.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anvil.terra.bio/#workspaces" TargetMode="External"/><Relationship Id="rId5" Type="http://schemas.openxmlformats.org/officeDocument/2006/relationships/hyperlink" Target="https://creativecommons.org/licenses/by/4.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hyperlink" Target="https://anvil.terra.bio/#workspaces/pathogen-genomic-surveillance/COVID-19" TargetMode="External"/><Relationship Id="rId5" Type="http://schemas.openxmlformats.org/officeDocument/2006/relationships/hyperlink" Target="https://creativecommons.org/licenses/by/4.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anvil.terra.bio/#workspaces/pathogen-genomic-surveillance/COVID-19"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anvil.terra.bio/#workspaces/pathogen-genomic-surveillance/COVID-19"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hyperlink" Target="https://anvil.terra.bio/#workspaces/pathogen-genomic-surveillance/COVID-19" TargetMode="External"/><Relationship Id="rId5" Type="http://schemas.openxmlformats.org/officeDocument/2006/relationships/hyperlink" Target="https://creativecommons.org/licenses/by/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Clone a Workspace</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 </a:t>
            </a:r>
            <a:r>
              <a:rPr lang="en"/>
              <a:t> homepage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Billing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3063240"/>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navigate to workspaces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5" name="Google Shape;175;p17"/>
          <p:cNvPicPr preferRelativeResize="0"/>
          <p:nvPr/>
        </p:nvPicPr>
        <p:blipFill>
          <a:blip r:embed="rId5">
            <a:alphaModFix/>
          </a:blip>
          <a:stretch>
            <a:fillRect/>
          </a:stretch>
        </p:blipFill>
        <p:spPr>
          <a:xfrm>
            <a:off x="152400" y="1330900"/>
            <a:ext cx="8839204" cy="2481710"/>
          </a:xfrm>
          <a:prstGeom prst="rect">
            <a:avLst/>
          </a:prstGeom>
          <a:noFill/>
          <a:ln>
            <a:noFill/>
          </a:ln>
        </p:spPr>
      </p:pic>
      <p:sp>
        <p:nvSpPr>
          <p:cNvPr id="176" name="Google Shape;176;p17"/>
          <p:cNvSpPr/>
          <p:nvPr/>
        </p:nvSpPr>
        <p:spPr>
          <a:xfrm>
            <a:off x="156950" y="1401875"/>
            <a:ext cx="465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233150" y="2359152"/>
            <a:ext cx="1386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18"/>
          <p:cNvPicPr preferRelativeResize="0"/>
          <p:nvPr/>
        </p:nvPicPr>
        <p:blipFill>
          <a:blip r:embed="rId3">
            <a:alphaModFix/>
          </a:blip>
          <a:stretch>
            <a:fillRect/>
          </a:stretch>
        </p:blipFill>
        <p:spPr>
          <a:xfrm>
            <a:off x="195552" y="323851"/>
            <a:ext cx="8752896" cy="4343399"/>
          </a:xfrm>
          <a:prstGeom prst="rect">
            <a:avLst/>
          </a:prstGeom>
          <a:noFill/>
          <a:ln>
            <a:noFill/>
          </a:ln>
        </p:spPr>
      </p:pic>
      <p:sp>
        <p:nvSpPr>
          <p:cNvPr id="183" name="Google Shape;183;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a:t>
            </a:r>
            <a:r>
              <a:rPr lang="en"/>
              <a:t> Workspaces screenshot by Ava Hoffman.  </a:t>
            </a:r>
            <a:r>
              <a:rPr lang="en" u="sng">
                <a:solidFill>
                  <a:schemeClr val="accent5"/>
                </a:solidFill>
                <a:hlinkClick r:id="rId5">
                  <a:extLst>
                    <a:ext uri="{A12FA001-AC4F-418D-AE19-62706E023703}">
                      <ahyp:hlinkClr val="tx"/>
                    </a:ext>
                  </a:extLst>
                </a:hlinkClick>
              </a:rPr>
              <a:t>CC-BY-4.0</a:t>
            </a:r>
            <a:endParaRPr/>
          </a:p>
        </p:txBody>
      </p:sp>
      <p:sp>
        <p:nvSpPr>
          <p:cNvPr id="184" name="Google Shape;184;p18"/>
          <p:cNvSpPr/>
          <p:nvPr/>
        </p:nvSpPr>
        <p:spPr>
          <a:xfrm>
            <a:off x="355550" y="1540875"/>
            <a:ext cx="12894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9"/>
          <p:cNvPicPr preferRelativeResize="0"/>
          <p:nvPr/>
        </p:nvPicPr>
        <p:blipFill>
          <a:blip r:embed="rId3">
            <a:alphaModFix/>
          </a:blip>
          <a:stretch>
            <a:fillRect/>
          </a:stretch>
        </p:blipFill>
        <p:spPr>
          <a:xfrm>
            <a:off x="223980" y="400050"/>
            <a:ext cx="8696039" cy="4343400"/>
          </a:xfrm>
          <a:prstGeom prst="rect">
            <a:avLst/>
          </a:prstGeom>
          <a:noFill/>
          <a:ln>
            <a:noFill/>
          </a:ln>
        </p:spPr>
      </p:pic>
      <p:sp>
        <p:nvSpPr>
          <p:cNvPr id="190" name="Google Shape;190;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a:t>
            </a:r>
            <a:r>
              <a:rPr lang="en"/>
              <a:t> Workspaces screenshot by Ava Hoffman.  </a:t>
            </a:r>
            <a:r>
              <a:rPr lang="en" u="sng">
                <a:solidFill>
                  <a:schemeClr val="accent5"/>
                </a:solidFill>
                <a:hlinkClick r:id="rId5">
                  <a:extLst>
                    <a:ext uri="{A12FA001-AC4F-418D-AE19-62706E023703}">
                      <ahyp:hlinkClr val="tx"/>
                    </a:ext>
                  </a:extLst>
                </a:hlinkClick>
              </a:rPr>
              <a:t>CC-BY-4.0</a:t>
            </a:r>
            <a:endParaRPr/>
          </a:p>
        </p:txBody>
      </p:sp>
      <p:sp>
        <p:nvSpPr>
          <p:cNvPr id="191" name="Google Shape;191;p19"/>
          <p:cNvSpPr/>
          <p:nvPr/>
        </p:nvSpPr>
        <p:spPr>
          <a:xfrm>
            <a:off x="3141675" y="1597550"/>
            <a:ext cx="10545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0"/>
          <p:cNvPicPr preferRelativeResize="0"/>
          <p:nvPr/>
        </p:nvPicPr>
        <p:blipFill>
          <a:blip r:embed="rId3">
            <a:alphaModFix/>
          </a:blip>
          <a:stretch>
            <a:fillRect/>
          </a:stretch>
        </p:blipFill>
        <p:spPr>
          <a:xfrm>
            <a:off x="223172" y="400050"/>
            <a:ext cx="8697657" cy="4343400"/>
          </a:xfrm>
          <a:prstGeom prst="rect">
            <a:avLst/>
          </a:prstGeom>
          <a:noFill/>
          <a:ln>
            <a:noFill/>
          </a:ln>
        </p:spPr>
      </p:pic>
      <p:sp>
        <p:nvSpPr>
          <p:cNvPr id="197" name="Google Shape;197;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a:t>
            </a:r>
            <a:r>
              <a:rPr lang="en"/>
              <a:t> Workspaces screenshot by Ava Hoffman.  </a:t>
            </a:r>
            <a:r>
              <a:rPr lang="en" u="sng">
                <a:solidFill>
                  <a:schemeClr val="accent5"/>
                </a:solidFill>
                <a:hlinkClick r:id="rId5">
                  <a:extLst>
                    <a:ext uri="{A12FA001-AC4F-418D-AE19-62706E023703}">
                      <ahyp:hlinkClr val="tx"/>
                    </a:ext>
                  </a:extLst>
                </a:hlinkClick>
              </a:rPr>
              <a:t>CC-BY-4.0</a:t>
            </a:r>
            <a:endParaRPr/>
          </a:p>
        </p:txBody>
      </p:sp>
      <p:sp>
        <p:nvSpPr>
          <p:cNvPr id="198" name="Google Shape;198;p20"/>
          <p:cNvSpPr/>
          <p:nvPr/>
        </p:nvSpPr>
        <p:spPr>
          <a:xfrm>
            <a:off x="3417050" y="455550"/>
            <a:ext cx="7224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1"/>
          <p:cNvPicPr preferRelativeResize="0"/>
          <p:nvPr/>
        </p:nvPicPr>
        <p:blipFill>
          <a:blip r:embed="rId3">
            <a:alphaModFix/>
          </a:blip>
          <a:stretch>
            <a:fillRect/>
          </a:stretch>
        </p:blipFill>
        <p:spPr>
          <a:xfrm>
            <a:off x="223172" y="400050"/>
            <a:ext cx="8697657" cy="4343400"/>
          </a:xfrm>
          <a:prstGeom prst="rect">
            <a:avLst/>
          </a:prstGeom>
          <a:noFill/>
          <a:ln>
            <a:noFill/>
          </a:ln>
        </p:spPr>
      </p:pic>
      <p:sp>
        <p:nvSpPr>
          <p:cNvPr id="204" name="Google Shape;204;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a:t>
            </a:r>
            <a:r>
              <a:rPr lang="en"/>
              <a:t> Workspaces screenshot by Ava Hoffman.  </a:t>
            </a:r>
            <a:r>
              <a:rPr lang="en" u="sng">
                <a:solidFill>
                  <a:schemeClr val="accent5"/>
                </a:solidFill>
                <a:hlinkClick r:id="rId5">
                  <a:extLst>
                    <a:ext uri="{A12FA001-AC4F-418D-AE19-62706E023703}">
                      <ahyp:hlinkClr val="tx"/>
                    </a:ext>
                  </a:extLst>
                </a:hlinkClick>
              </a:rPr>
              <a:t>CC-BY-4.0</a:t>
            </a:r>
            <a:endParaRPr/>
          </a:p>
        </p:txBody>
      </p:sp>
      <p:sp>
        <p:nvSpPr>
          <p:cNvPr id="205" name="Google Shape;205;p21"/>
          <p:cNvSpPr/>
          <p:nvPr/>
        </p:nvSpPr>
        <p:spPr>
          <a:xfrm>
            <a:off x="8375250" y="2253600"/>
            <a:ext cx="290100" cy="241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7515250" y="2012100"/>
            <a:ext cx="544200" cy="241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p:cNvPicPr preferRelativeResize="0"/>
          <p:nvPr/>
        </p:nvPicPr>
        <p:blipFill>
          <a:blip r:embed="rId3">
            <a:alphaModFix/>
          </a:blip>
          <a:stretch>
            <a:fillRect/>
          </a:stretch>
        </p:blipFill>
        <p:spPr>
          <a:xfrm>
            <a:off x="242461" y="400050"/>
            <a:ext cx="8659077" cy="4343400"/>
          </a:xfrm>
          <a:prstGeom prst="rect">
            <a:avLst/>
          </a:prstGeom>
          <a:noFill/>
          <a:ln>
            <a:noFill/>
          </a:ln>
        </p:spPr>
      </p:pic>
      <p:sp>
        <p:nvSpPr>
          <p:cNvPr id="212" name="Google Shape;212;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https://anvil.terra.bio/#workspaces/pathogen-genomic-surveillance/COVID-19</a:t>
            </a:r>
            <a:r>
              <a:rPr lang="en"/>
              <a:t>  Workspace screenshot </a:t>
            </a:r>
            <a:endParaRPr/>
          </a:p>
          <a:p>
            <a:pPr indent="0" lvl="0" marL="0" rtl="0" algn="l">
              <a:spcBef>
                <a:spcPts val="0"/>
              </a:spcBef>
              <a:spcAft>
                <a:spcPts val="0"/>
              </a:spcAft>
              <a:buNone/>
            </a:pPr>
            <a:r>
              <a:rPr lang="en"/>
              <a:t>by Ava Hoffman.  </a:t>
            </a:r>
            <a:r>
              <a:rPr lang="en" u="sng">
                <a:solidFill>
                  <a:schemeClr val="accent5"/>
                </a:solidFill>
                <a:hlinkClick r:id="rId5">
                  <a:extLst>
                    <a:ext uri="{A12FA001-AC4F-418D-AE19-62706E023703}">
                      <ahyp:hlinkClr val="tx"/>
                    </a:ext>
                  </a:extLst>
                </a:hlinkClick>
              </a:rPr>
              <a:t>CC-BY-4.0</a:t>
            </a:r>
            <a:endParaRPr/>
          </a:p>
        </p:txBody>
      </p:sp>
      <p:sp>
        <p:nvSpPr>
          <p:cNvPr id="213" name="Google Shape;213;p22"/>
          <p:cNvSpPr/>
          <p:nvPr/>
        </p:nvSpPr>
        <p:spPr>
          <a:xfrm>
            <a:off x="8423850" y="884850"/>
            <a:ext cx="3885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p:nvPr/>
        </p:nvSpPr>
        <p:spPr>
          <a:xfrm>
            <a:off x="7644825" y="1249300"/>
            <a:ext cx="544200" cy="217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accent5"/>
                </a:solidFill>
                <a:hlinkClick r:id="rId3">
                  <a:extLst>
                    <a:ext uri="{A12FA001-AC4F-418D-AE19-62706E023703}">
                      <ahyp:hlinkClr val="tx"/>
                    </a:ext>
                  </a:extLst>
                </a:hlinkClick>
              </a:rPr>
              <a:t>https://anvil.terra.bio/#workspaces/pathogen-genomic-surveillance/COVID-19</a:t>
            </a:r>
            <a:r>
              <a:rPr lang="en"/>
              <a:t>  clone a Workspace popout screenshot </a:t>
            </a:r>
            <a:endParaRPr/>
          </a:p>
          <a:p>
            <a:pPr indent="0" lvl="0" marL="0" rtl="0" algn="l">
              <a:spcBef>
                <a:spcPts val="0"/>
              </a:spcBef>
              <a:spcAft>
                <a:spcPts val="0"/>
              </a:spcAft>
              <a:buNone/>
            </a:pPr>
            <a:r>
              <a:rPr lang="en"/>
              <a:t>by Ava Hoffman.  </a:t>
            </a:r>
            <a:r>
              <a:rPr lang="en" u="sng">
                <a:solidFill>
                  <a:schemeClr val="accent5"/>
                </a:solidFill>
                <a:hlinkClick r:id="rId4">
                  <a:extLst>
                    <a:ext uri="{A12FA001-AC4F-418D-AE19-62706E023703}">
                      <ahyp:hlinkClr val="tx"/>
                    </a:ext>
                  </a:extLst>
                </a:hlinkClick>
              </a:rPr>
              <a:t>CC-BY-4.0</a:t>
            </a:r>
            <a:endParaRPr/>
          </a:p>
        </p:txBody>
      </p:sp>
      <p:pic>
        <p:nvPicPr>
          <p:cNvPr id="220" name="Google Shape;220;p23"/>
          <p:cNvPicPr preferRelativeResize="0"/>
          <p:nvPr/>
        </p:nvPicPr>
        <p:blipFill>
          <a:blip r:embed="rId5">
            <a:alphaModFix/>
          </a:blip>
          <a:stretch>
            <a:fillRect/>
          </a:stretch>
        </p:blipFill>
        <p:spPr>
          <a:xfrm>
            <a:off x="1926525" y="152400"/>
            <a:ext cx="5290950" cy="4612151"/>
          </a:xfrm>
          <a:prstGeom prst="rect">
            <a:avLst/>
          </a:prstGeom>
          <a:noFill/>
          <a:ln>
            <a:noFill/>
          </a:ln>
        </p:spPr>
      </p:pic>
      <p:sp>
        <p:nvSpPr>
          <p:cNvPr id="221" name="Google Shape;221;p23"/>
          <p:cNvSpPr/>
          <p:nvPr/>
        </p:nvSpPr>
        <p:spPr>
          <a:xfrm>
            <a:off x="2793400" y="1046825"/>
            <a:ext cx="2050500" cy="243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
          <p:cNvSpPr/>
          <p:nvPr/>
        </p:nvSpPr>
        <p:spPr>
          <a:xfrm>
            <a:off x="2746300" y="1694775"/>
            <a:ext cx="16038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https://anvil.terra.bio/#workspaces/pathogen-genomic-surveillance/COVID-19</a:t>
            </a:r>
            <a:r>
              <a:rPr lang="en"/>
              <a:t>  clone a Workspace popout screenshot </a:t>
            </a:r>
            <a:endParaRPr/>
          </a:p>
          <a:p>
            <a:pPr indent="0" lvl="0" marL="0" rtl="0" algn="l">
              <a:spcBef>
                <a:spcPts val="0"/>
              </a:spcBef>
              <a:spcAft>
                <a:spcPts val="0"/>
              </a:spcAft>
              <a:buNone/>
            </a:pPr>
            <a:r>
              <a:rPr lang="en"/>
              <a:t>by Ava Hoffman.  </a:t>
            </a:r>
            <a:r>
              <a:rPr lang="en" u="sng">
                <a:solidFill>
                  <a:schemeClr val="accent5"/>
                </a:solidFill>
                <a:hlinkClick r:id="rId4">
                  <a:extLst>
                    <a:ext uri="{A12FA001-AC4F-418D-AE19-62706E023703}">
                      <ahyp:hlinkClr val="tx"/>
                    </a:ext>
                  </a:extLst>
                </a:hlinkClick>
              </a:rPr>
              <a:t>CC-BY-4.0</a:t>
            </a:r>
            <a:endParaRPr/>
          </a:p>
        </p:txBody>
      </p:sp>
      <p:sp>
        <p:nvSpPr>
          <p:cNvPr id="228" name="Google Shape;228;p24"/>
          <p:cNvSpPr/>
          <p:nvPr/>
        </p:nvSpPr>
        <p:spPr>
          <a:xfrm>
            <a:off x="2793400" y="1046825"/>
            <a:ext cx="2050500" cy="243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24"/>
          <p:cNvPicPr preferRelativeResize="0"/>
          <p:nvPr/>
        </p:nvPicPr>
        <p:blipFill>
          <a:blip r:embed="rId5">
            <a:alphaModFix/>
          </a:blip>
          <a:stretch>
            <a:fillRect/>
          </a:stretch>
        </p:blipFill>
        <p:spPr>
          <a:xfrm>
            <a:off x="1760768" y="115062"/>
            <a:ext cx="5622464" cy="4608575"/>
          </a:xfrm>
          <a:prstGeom prst="rect">
            <a:avLst/>
          </a:prstGeom>
          <a:noFill/>
          <a:ln>
            <a:noFill/>
          </a:ln>
        </p:spPr>
      </p:pic>
      <p:sp>
        <p:nvSpPr>
          <p:cNvPr id="230" name="Google Shape;230;p24"/>
          <p:cNvSpPr/>
          <p:nvPr/>
        </p:nvSpPr>
        <p:spPr>
          <a:xfrm>
            <a:off x="2713900" y="3606200"/>
            <a:ext cx="11340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25"/>
          <p:cNvPicPr preferRelativeResize="0"/>
          <p:nvPr/>
        </p:nvPicPr>
        <p:blipFill>
          <a:blip r:embed="rId3">
            <a:alphaModFix/>
          </a:blip>
          <a:stretch>
            <a:fillRect/>
          </a:stretch>
        </p:blipFill>
        <p:spPr>
          <a:xfrm>
            <a:off x="229875" y="1128350"/>
            <a:ext cx="8684250" cy="2886800"/>
          </a:xfrm>
          <a:prstGeom prst="rect">
            <a:avLst/>
          </a:prstGeom>
          <a:noFill/>
          <a:ln>
            <a:noFill/>
          </a:ln>
        </p:spPr>
      </p:pic>
      <p:sp>
        <p:nvSpPr>
          <p:cNvPr id="236" name="Google Shape;236;p25"/>
          <p:cNvSpPr/>
          <p:nvPr/>
        </p:nvSpPr>
        <p:spPr>
          <a:xfrm>
            <a:off x="5036875" y="2571750"/>
            <a:ext cx="3354600" cy="767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4">
                  <a:extLst>
                    <a:ext uri="{A12FA001-AC4F-418D-AE19-62706E023703}">
                      <ahyp:hlinkClr val="tx"/>
                    </a:ext>
                  </a:extLst>
                </a:hlinkClick>
              </a:rPr>
              <a:t>https://anvil.terra.bio/#workspaces/pathogen-genomic-surveillance/COVID-19</a:t>
            </a:r>
            <a:r>
              <a:rPr lang="en"/>
              <a:t>  clone a Workspace popout screenshot </a:t>
            </a:r>
            <a:endParaRPr/>
          </a:p>
          <a:p>
            <a:pPr indent="0" lvl="0" marL="0" rtl="0" algn="l">
              <a:spcBef>
                <a:spcPts val="0"/>
              </a:spcBef>
              <a:spcAft>
                <a:spcPts val="0"/>
              </a:spcAft>
              <a:buNone/>
            </a:pPr>
            <a:r>
              <a:rPr lang="en"/>
              <a:t>by Ava Hoffman.  </a:t>
            </a:r>
            <a:r>
              <a:rPr lang="en" u="sng">
                <a:solidFill>
                  <a:schemeClr val="accent5"/>
                </a:solidFill>
                <a:hlinkClick r:id="rId5">
                  <a:extLst>
                    <a:ext uri="{A12FA001-AC4F-418D-AE19-62706E023703}">
                      <ahyp:hlinkClr val="tx"/>
                    </a:ext>
                  </a:extLst>
                </a:hlinkClick>
              </a:rPr>
              <a:t>CC-BY-4.0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Table summarizing Terra Workspace permission levels by Katherine Cox.  </a:t>
            </a:r>
            <a:r>
              <a:rPr lang="en" u="sng">
                <a:solidFill>
                  <a:schemeClr val="accent5"/>
                </a:solidFill>
                <a:hlinkClick r:id="rId3">
                  <a:extLst>
                    <a:ext uri="{A12FA001-AC4F-418D-AE19-62706E023703}">
                      <ahyp:hlinkClr val="tx"/>
                    </a:ext>
                  </a:extLst>
                </a:hlinkClick>
              </a:rPr>
              <a:t>CC-BY-4.0</a:t>
            </a:r>
            <a:endParaRPr/>
          </a:p>
        </p:txBody>
      </p:sp>
      <p:graphicFrame>
        <p:nvGraphicFramePr>
          <p:cNvPr id="243" name="Google Shape;243;p26"/>
          <p:cNvGraphicFramePr/>
          <p:nvPr/>
        </p:nvGraphicFramePr>
        <p:xfrm>
          <a:off x="152400" y="152400"/>
          <a:ext cx="3000000" cy="3000000"/>
        </p:xfrm>
        <a:graphic>
          <a:graphicData uri="http://schemas.openxmlformats.org/drawingml/2006/table">
            <a:tbl>
              <a:tblPr>
                <a:noFill/>
                <a:tableStyleId>{1DE8938E-430A-4957-8D8D-4163EB6DB31E}</a:tableStyleId>
              </a:tblPr>
              <a:tblGrid>
                <a:gridCol w="1136425"/>
                <a:gridCol w="4819050"/>
                <a:gridCol w="1518050"/>
                <a:gridCol w="1518050"/>
              </a:tblGrid>
              <a:tr h="440650">
                <a:tc gridSpan="4">
                  <a:txBody>
                    <a:bodyPr/>
                    <a:lstStyle/>
                    <a:p>
                      <a:pPr indent="0" lvl="0" marL="0" rtl="0" algn="ctr">
                        <a:lnSpc>
                          <a:spcPct val="115000"/>
                        </a:lnSpc>
                        <a:spcBef>
                          <a:spcPts val="0"/>
                        </a:spcBef>
                        <a:spcAft>
                          <a:spcPts val="0"/>
                        </a:spcAft>
                        <a:buNone/>
                      </a:pPr>
                      <a:r>
                        <a:rPr b="1" lang="en" sz="1600"/>
                        <a:t>Workspace Access Levels</a:t>
                      </a:r>
                      <a:endParaRPr b="1" sz="1600"/>
                    </a:p>
                  </a:txBody>
                  <a:tcPr marT="63500" marB="63500" marR="63500" marL="63500"/>
                </a:tc>
                <a:tc hMerge="1"/>
                <a:tc hMerge="1"/>
                <a:tc hMerge="1"/>
              </a:tr>
              <a:tr h="652175">
                <a:tc>
                  <a:txBody>
                    <a:bodyPr/>
                    <a:lstStyle/>
                    <a:p>
                      <a:pPr indent="0" lvl="0" marL="0" rtl="0" algn="l">
                        <a:spcBef>
                          <a:spcPts val="0"/>
                        </a:spcBef>
                        <a:spcAft>
                          <a:spcPts val="0"/>
                        </a:spcAft>
                        <a:buNone/>
                      </a:pPr>
                      <a:r>
                        <a:rPr lang="en" sz="1600"/>
                        <a:t>Access Level</a:t>
                      </a:r>
                      <a:endParaRPr sz="1600"/>
                    </a:p>
                  </a:txBody>
                  <a:tcPr marT="63500" marB="63500" marR="63500" marL="63500"/>
                </a:tc>
                <a:tc>
                  <a:txBody>
                    <a:bodyPr/>
                    <a:lstStyle/>
                    <a:p>
                      <a:pPr indent="0" lvl="0" marL="0" rtl="0" algn="l">
                        <a:spcBef>
                          <a:spcPts val="0"/>
                        </a:spcBef>
                        <a:spcAft>
                          <a:spcPts val="0"/>
                        </a:spcAft>
                        <a:buNone/>
                      </a:pPr>
                      <a:r>
                        <a:rPr lang="en" sz="1600"/>
                        <a:t>Permissions</a:t>
                      </a:r>
                      <a:endParaRPr sz="1600"/>
                    </a:p>
                  </a:txBody>
                  <a:tcPr marT="63500" marB="63500" marR="63500" marL="63500"/>
                </a:tc>
                <a:tc>
                  <a:txBody>
                    <a:bodyPr/>
                    <a:lstStyle/>
                    <a:p>
                      <a:pPr indent="0" lvl="0" marL="0" rtl="0" algn="l">
                        <a:spcBef>
                          <a:spcPts val="0"/>
                        </a:spcBef>
                        <a:spcAft>
                          <a:spcPts val="0"/>
                        </a:spcAft>
                        <a:buNone/>
                      </a:pPr>
                      <a:r>
                        <a:rPr lang="en" sz="1600"/>
                        <a:t>Billable Activities</a:t>
                      </a:r>
                      <a:endParaRPr sz="1600"/>
                    </a:p>
                  </a:txBody>
                  <a:tcPr marT="63500" marB="63500" marR="63500" marL="63500"/>
                </a:tc>
                <a:tc>
                  <a:txBody>
                    <a:bodyPr/>
                    <a:lstStyle/>
                    <a:p>
                      <a:pPr indent="0" lvl="0" marL="0" rtl="0" algn="l">
                        <a:spcBef>
                          <a:spcPts val="0"/>
                        </a:spcBef>
                        <a:spcAft>
                          <a:spcPts val="0"/>
                        </a:spcAft>
                        <a:buNone/>
                      </a:pPr>
                      <a:r>
                        <a:rPr lang="en" sz="1600"/>
                        <a:t>Data Access</a:t>
                      </a:r>
                      <a:endParaRPr sz="1600"/>
                    </a:p>
                  </a:txBody>
                  <a:tcPr marT="63500" marB="63500" marR="63500" marL="63500"/>
                </a:tc>
              </a:tr>
              <a:tr h="969450">
                <a:tc>
                  <a:txBody>
                    <a:bodyPr/>
                    <a:lstStyle/>
                    <a:p>
                      <a:pPr indent="0" lvl="0" marL="0" rtl="0" algn="l">
                        <a:spcBef>
                          <a:spcPts val="0"/>
                        </a:spcBef>
                        <a:spcAft>
                          <a:spcPts val="0"/>
                        </a:spcAft>
                        <a:buNone/>
                      </a:pPr>
                      <a:r>
                        <a:rPr lang="en" sz="1600"/>
                        <a:t>Owners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p>
                      <a:pPr indent="-330200" lvl="0" marL="457200" rtl="0" algn="l">
                        <a:lnSpc>
                          <a:spcPct val="115000"/>
                        </a:lnSpc>
                        <a:spcBef>
                          <a:spcPts val="0"/>
                        </a:spcBef>
                        <a:spcAft>
                          <a:spcPts val="0"/>
                        </a:spcAft>
                        <a:buSzPts val="1600"/>
                        <a:buChar char="●"/>
                      </a:pPr>
                      <a:r>
                        <a:rPr b="1" lang="en" sz="1600"/>
                        <a:t>manage other user permissions</a:t>
                      </a:r>
                      <a:endParaRPr b="1"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705050">
                <a:tc>
                  <a:txBody>
                    <a:bodyPr/>
                    <a:lstStyle/>
                    <a:p>
                      <a:pPr indent="0" lvl="0" marL="0" rtl="0" algn="l">
                        <a:spcBef>
                          <a:spcPts val="0"/>
                        </a:spcBef>
                        <a:spcAft>
                          <a:spcPts val="0"/>
                        </a:spcAft>
                        <a:buNone/>
                      </a:pPr>
                      <a:r>
                        <a:rPr lang="en" sz="1600"/>
                        <a:t>Writers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import / edit data</a:t>
                      </a:r>
                      <a:endParaRPr sz="1600"/>
                    </a:p>
                    <a:p>
                      <a:pPr indent="-330200" lvl="0" marL="457200" rtl="0" algn="l">
                        <a:lnSpc>
                          <a:spcPct val="115000"/>
                        </a:lnSpc>
                        <a:spcBef>
                          <a:spcPts val="0"/>
                        </a:spcBef>
                        <a:spcAft>
                          <a:spcPts val="0"/>
                        </a:spcAft>
                        <a:buSzPts val="1600"/>
                        <a:buChar char="●"/>
                      </a:pPr>
                      <a:r>
                        <a:rPr lang="en" sz="1600"/>
                        <a:t>run analyses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r h="1762625">
                <a:tc>
                  <a:txBody>
                    <a:bodyPr/>
                    <a:lstStyle/>
                    <a:p>
                      <a:pPr indent="0" lvl="0" marL="0" rtl="0" algn="l">
                        <a:spcBef>
                          <a:spcPts val="0"/>
                        </a:spcBef>
                        <a:spcAft>
                          <a:spcPts val="0"/>
                        </a:spcAft>
                        <a:buNone/>
                      </a:pPr>
                      <a:r>
                        <a:rPr lang="en" sz="1600"/>
                        <a:t>Readers</a:t>
                      </a:r>
                      <a:endParaRPr sz="1600"/>
                    </a:p>
                  </a:txBody>
                  <a:tcPr marT="63500" marB="63500" marR="63500" marL="63500"/>
                </a:tc>
                <a:tc>
                  <a:txBody>
                    <a:bodyPr/>
                    <a:lstStyle/>
                    <a:p>
                      <a:pPr indent="-330200" lvl="0" marL="457200" rtl="0" algn="l">
                        <a:lnSpc>
                          <a:spcPct val="115000"/>
                        </a:lnSpc>
                        <a:spcBef>
                          <a:spcPts val="0"/>
                        </a:spcBef>
                        <a:spcAft>
                          <a:spcPts val="0"/>
                        </a:spcAft>
                        <a:buSzPts val="1600"/>
                        <a:buChar char="●"/>
                      </a:pPr>
                      <a:r>
                        <a:rPr lang="en" sz="1600"/>
                        <a:t>view data and workflows (can’t run or edit)</a:t>
                      </a:r>
                      <a:endParaRPr sz="1600"/>
                    </a:p>
                    <a:p>
                      <a:pPr indent="-330200" lvl="0" marL="457200" rtl="0" algn="l">
                        <a:lnSpc>
                          <a:spcPct val="115000"/>
                        </a:lnSpc>
                        <a:spcBef>
                          <a:spcPts val="0"/>
                        </a:spcBef>
                        <a:spcAft>
                          <a:spcPts val="0"/>
                        </a:spcAft>
                        <a:buSzPts val="1600"/>
                        <a:buChar char="●"/>
                      </a:pPr>
                      <a:r>
                        <a:rPr lang="en" sz="1600"/>
                        <a:t>copy contents into their own Workspace (if e.g. they wish to run the analysis in a Workspace associated with their own Billing Project)</a:t>
                      </a:r>
                      <a:endParaRPr sz="1600"/>
                    </a:p>
                  </a:txBody>
                  <a:tcPr marT="63500" marB="63500" marR="63500" marL="63500"/>
                </a:tc>
                <a:tc>
                  <a:txBody>
                    <a:bodyPr/>
                    <a:lstStyle/>
                    <a:p>
                      <a:pPr indent="0" lvl="0" marL="0" rtl="0" algn="l">
                        <a:spcBef>
                          <a:spcPts val="0"/>
                        </a:spcBef>
                        <a:spcAft>
                          <a:spcPts val="0"/>
                        </a:spcAft>
                        <a:buNone/>
                      </a:pPr>
                      <a:r>
                        <a:rPr lang="en" sz="1600"/>
                        <a:t>No</a:t>
                      </a:r>
                      <a:endParaRPr sz="1600"/>
                    </a:p>
                  </a:txBody>
                  <a:tcPr marT="63500" marB="63500" marR="63500" marL="63500"/>
                </a:tc>
                <a:tc>
                  <a:txBody>
                    <a:bodyPr/>
                    <a:lstStyle/>
                    <a:p>
                      <a:pPr indent="0" lvl="0" marL="0" rtl="0" algn="l">
                        <a:spcBef>
                          <a:spcPts val="0"/>
                        </a:spcBef>
                        <a:spcAft>
                          <a:spcPts val="0"/>
                        </a:spcAft>
                        <a:buNone/>
                      </a:pPr>
                      <a:r>
                        <a:rPr lang="en" sz="1600"/>
                        <a:t>Yes</a:t>
                      </a:r>
                      <a:endParaRPr sz="1600"/>
                    </a:p>
                  </a:txBody>
                  <a:tcPr marT="63500" marB="63500" marR="63500" marL="6350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