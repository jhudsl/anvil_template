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CFEA45-2785-4D0F-A673-001B91D769B2}">
  <a:tblStyle styleId="{5DCFEA45-2785-4D0F-A673-001B91D769B2}"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video will show you how to create a Terra Workspace.  Workspaces are where analyses takes place on AnVIL.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7989bd4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7989bd4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Terra</a:t>
            </a:r>
            <a:r>
              <a:rPr lang="en">
                <a:solidFill>
                  <a:schemeClr val="dk1"/>
                </a:solidFill>
              </a:rPr>
              <a:t> using your Google ID.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7989bd49c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7989bd49c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a:t>
            </a:r>
            <a:r>
              <a:rPr lang="en">
                <a:solidFill>
                  <a:schemeClr val="dk1"/>
                </a:solidFill>
              </a:rPr>
              <a:t>n order to create a Workspace, you must be a member of a Terra Billing Project.  To see whether you belong to any Terra Billing Projects, c</a:t>
            </a:r>
            <a:r>
              <a:rPr lang="en">
                <a:solidFill>
                  <a:schemeClr val="dk1"/>
                </a:solidFill>
              </a:rPr>
              <a:t>lick the triple bar in the top left corner to access the drop-down menu, then click the arrow next to your name to expand the menu, and click “Billing”.  If you are not a member of an active Billing Project, you will need to either be added to an </a:t>
            </a:r>
            <a:r>
              <a:rPr lang="en">
                <a:solidFill>
                  <a:schemeClr val="dk1"/>
                </a:solidFill>
              </a:rPr>
              <a:t>existing Billing Project or </a:t>
            </a:r>
            <a:r>
              <a:rPr lang="en">
                <a:solidFill>
                  <a:schemeClr val="dk1"/>
                </a:solidFill>
              </a:rPr>
              <a:t>set one up yourself before you can create a Workspace.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7989bd49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7989bd49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create a Workspace, click the triple bar in the top left corner to access the drop-down menu, then click “Workspaces”.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7989bd49c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7989bd49c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plus icon near the top of left of the page.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7989bd49c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7989bd49c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popup box, n</a:t>
            </a:r>
            <a:r>
              <a:rPr lang="en"/>
              <a:t>ame your Workspace and select the appropriate Billing Project. Note that all activity in the Workspace will be charged to this Billing Project, regardless of who conducts 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7989bd49c_0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7989bd49c_0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working with protected data, you can set an Authorization Domain to limit who can be added to your Workspace. Note that the Authorization Domain cannot be changed after the Workspace is created, which can make it difficult if you later need to share your Workspace more broadly. Authorization domains add an extra layer of enforcement over privacy, but by nature make sharing more complicated. We generally recommend using Authorization Domains only in cases where it is extremely important or legally required that the data be kept private, such as protected patient data or confidential industry data.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7989bd49c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7989bd49c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“CREATE WORKSPACE”.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7abafa4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7abafa4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new Workspace should now show up under your Workspaces. Congratulations! You have created a Workspace and can begin running analyses on AnVIL.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17989bd49c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17989bd49c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When managing your Workspace, it’s important to remember that all activity in the Workspace will be charged to the Workspaces’ Billing Project, regardless of who conducts it, and to exercise caution when sharing your Workspace.  You can safely add people as Readers, but you should only add people as Writers or Owners if their activity should be funded by your Billing Project.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Create a Workspace</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 </a:t>
            </a:r>
            <a:r>
              <a:rPr lang="en"/>
              <a:t> homepage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Billing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67" name="Google Shape;167;p16"/>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418422" y="3063240"/>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navigate to workspaces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5" name="Google Shape;175;p17"/>
          <p:cNvPicPr preferRelativeResize="0"/>
          <p:nvPr/>
        </p:nvPicPr>
        <p:blipFill>
          <a:blip r:embed="rId5">
            <a:alphaModFix/>
          </a:blip>
          <a:stretch>
            <a:fillRect/>
          </a:stretch>
        </p:blipFill>
        <p:spPr>
          <a:xfrm>
            <a:off x="152400" y="1330900"/>
            <a:ext cx="8839204" cy="2481710"/>
          </a:xfrm>
          <a:prstGeom prst="rect">
            <a:avLst/>
          </a:prstGeom>
          <a:noFill/>
          <a:ln>
            <a:noFill/>
          </a:ln>
        </p:spPr>
      </p:pic>
      <p:sp>
        <p:nvSpPr>
          <p:cNvPr id="176" name="Google Shape;176;p17"/>
          <p:cNvSpPr/>
          <p:nvPr/>
        </p:nvSpPr>
        <p:spPr>
          <a:xfrm>
            <a:off x="156950" y="1401875"/>
            <a:ext cx="465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233150" y="2359152"/>
            <a:ext cx="1386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create new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3" name="Google Shape;183;p18"/>
          <p:cNvPicPr preferRelativeResize="0"/>
          <p:nvPr/>
        </p:nvPicPr>
        <p:blipFill>
          <a:blip r:embed="rId5">
            <a:alphaModFix/>
          </a:blip>
          <a:stretch>
            <a:fillRect/>
          </a:stretch>
        </p:blipFill>
        <p:spPr>
          <a:xfrm>
            <a:off x="152400" y="1007188"/>
            <a:ext cx="8839204" cy="3129113"/>
          </a:xfrm>
          <a:prstGeom prst="rect">
            <a:avLst/>
          </a:prstGeom>
          <a:noFill/>
          <a:ln>
            <a:noFill/>
          </a:ln>
        </p:spPr>
      </p:pic>
      <p:sp>
        <p:nvSpPr>
          <p:cNvPr id="184" name="Google Shape;184;p18"/>
          <p:cNvSpPr/>
          <p:nvPr/>
        </p:nvSpPr>
        <p:spPr>
          <a:xfrm>
            <a:off x="1119326" y="1544675"/>
            <a:ext cx="306300" cy="3003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name workspace and select billing project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0" name="Google Shape;190;p19"/>
          <p:cNvPicPr preferRelativeResize="0"/>
          <p:nvPr/>
        </p:nvPicPr>
        <p:blipFill>
          <a:blip r:embed="rId5">
            <a:alphaModFix/>
          </a:blip>
          <a:stretch>
            <a:fillRect/>
          </a:stretch>
        </p:blipFill>
        <p:spPr>
          <a:xfrm>
            <a:off x="138425" y="382975"/>
            <a:ext cx="4045778" cy="4377550"/>
          </a:xfrm>
          <a:prstGeom prst="rect">
            <a:avLst/>
          </a:prstGeom>
          <a:noFill/>
          <a:ln>
            <a:noFill/>
          </a:ln>
        </p:spPr>
      </p:pic>
      <p:sp>
        <p:nvSpPr>
          <p:cNvPr id="191" name="Google Shape;191;p19"/>
          <p:cNvSpPr/>
          <p:nvPr/>
        </p:nvSpPr>
        <p:spPr>
          <a:xfrm>
            <a:off x="274320" y="1806402"/>
            <a:ext cx="11550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323110" y="1097280"/>
            <a:ext cx="21432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select authorization domain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8" name="Google Shape;198;p20"/>
          <p:cNvPicPr preferRelativeResize="0"/>
          <p:nvPr/>
        </p:nvPicPr>
        <p:blipFill>
          <a:blip r:embed="rId5">
            <a:alphaModFix/>
          </a:blip>
          <a:stretch>
            <a:fillRect/>
          </a:stretch>
        </p:blipFill>
        <p:spPr>
          <a:xfrm>
            <a:off x="152400" y="382975"/>
            <a:ext cx="4045778" cy="4377550"/>
          </a:xfrm>
          <a:prstGeom prst="rect">
            <a:avLst/>
          </a:prstGeom>
          <a:noFill/>
          <a:ln>
            <a:noFill/>
          </a:ln>
        </p:spPr>
      </p:pic>
      <p:sp>
        <p:nvSpPr>
          <p:cNvPr id="199" name="Google Shape;199;p20"/>
          <p:cNvSpPr/>
          <p:nvPr/>
        </p:nvSpPr>
        <p:spPr>
          <a:xfrm>
            <a:off x="274320" y="3764275"/>
            <a:ext cx="1130400" cy="32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create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5" name="Google Shape;205;p21"/>
          <p:cNvPicPr preferRelativeResize="0"/>
          <p:nvPr/>
        </p:nvPicPr>
        <p:blipFill>
          <a:blip r:embed="rId5">
            <a:alphaModFix/>
          </a:blip>
          <a:stretch>
            <a:fillRect/>
          </a:stretch>
        </p:blipFill>
        <p:spPr>
          <a:xfrm>
            <a:off x="152400" y="382975"/>
            <a:ext cx="4045778" cy="4377550"/>
          </a:xfrm>
          <a:prstGeom prst="rect">
            <a:avLst/>
          </a:prstGeom>
          <a:noFill/>
          <a:ln>
            <a:noFill/>
          </a:ln>
        </p:spPr>
      </p:pic>
      <p:sp>
        <p:nvSpPr>
          <p:cNvPr id="206" name="Google Shape;206;p21"/>
          <p:cNvSpPr/>
          <p:nvPr/>
        </p:nvSpPr>
        <p:spPr>
          <a:xfrm>
            <a:off x="2342903" y="4239500"/>
            <a:ext cx="1738500" cy="365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select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12" name="Google Shape;212;p22"/>
          <p:cNvPicPr preferRelativeResize="0"/>
          <p:nvPr/>
        </p:nvPicPr>
        <p:blipFill>
          <a:blip r:embed="rId5">
            <a:alphaModFix/>
          </a:blip>
          <a:stretch>
            <a:fillRect/>
          </a:stretch>
        </p:blipFill>
        <p:spPr>
          <a:xfrm>
            <a:off x="152400" y="1378375"/>
            <a:ext cx="8839204" cy="2386758"/>
          </a:xfrm>
          <a:prstGeom prst="rect">
            <a:avLst/>
          </a:prstGeom>
          <a:noFill/>
          <a:ln>
            <a:noFill/>
          </a:ln>
        </p:spPr>
      </p:pic>
      <p:sp>
        <p:nvSpPr>
          <p:cNvPr id="213" name="Google Shape;213;p22"/>
          <p:cNvSpPr/>
          <p:nvPr/>
        </p:nvSpPr>
        <p:spPr>
          <a:xfrm>
            <a:off x="310896" y="3233150"/>
            <a:ext cx="1810500" cy="332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19" name="Google Shape;219;p23"/>
          <p:cNvGraphicFramePr/>
          <p:nvPr/>
        </p:nvGraphicFramePr>
        <p:xfrm>
          <a:off x="152400" y="152400"/>
          <a:ext cx="3000000" cy="3000000"/>
        </p:xfrm>
        <a:graphic>
          <a:graphicData uri="http://schemas.openxmlformats.org/drawingml/2006/table">
            <a:tbl>
              <a:tblPr>
                <a:noFill/>
                <a:tableStyleId>{5DCFEA45-2785-4D0F-A673-001B91D769B2}</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