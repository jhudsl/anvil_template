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create a Billing Project on Terra.  Creating a Billing Project on Terra</a:t>
            </a:r>
            <a:r>
              <a:rPr lang="en"/>
              <a:t> w</a:t>
            </a:r>
            <a:r>
              <a:rPr lang="en"/>
              <a:t>ill </a:t>
            </a:r>
            <a:r>
              <a:rPr lang="en"/>
              <a:t>allow you to add Terra users to  your project so they can start working on AnVIL.  </a:t>
            </a:r>
            <a:r>
              <a:rPr lang="en">
                <a:solidFill>
                  <a:schemeClr val="dk1"/>
                </a:solidFill>
              </a:rPr>
              <a:t>If you have not already created a GCP Billing Account and added Terra as a User, go ahead and do that first.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Terra using the Google ID associated with your Google Cloud Billing Account.  If this is your first time logging in to Terra, you will need to accept the Terms of Service.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6f8d759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6f8d759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the triple bar in the top left corner to access the drop-down menu. Click the arrow next to your name to expand the menu, then click “Billing”.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6f8d759b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6f8d759b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Billing page, click the “+ CREATE” button to create a new Billing Project. If prompted, select the Google account to use. Make sure to use the same Google account that you used to set up Google Billing. If prompted, give Terra permission to manage Google Cloud Platform billing accounts.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6f8d759be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6f8d759b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a unique name for your Terra Billing Project.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16f8d759be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16f8d759be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the requirements for Terra Billing Project names.  Because names must be unique, it can be useful to include your team name and/or team members’ names or initials, along with the purpose or timeframe of the project.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105956e9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105956e9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elect the appropriate Google Billing Account.  All activities conducted under your new Terra Billing Project will charge to this Google Billing Account.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6f8d759be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16f8d759be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“Create Billing Project” </a:t>
            </a:r>
            <a:r>
              <a:rPr lang="en">
                <a:solidFill>
                  <a:schemeClr val="dk1"/>
                </a:solidFill>
              </a:rPr>
              <a:t>to complete the process</a:t>
            </a:r>
            <a:r>
              <a:rPr lang="en"/>
              <a:t>.  Note that t</a:t>
            </a:r>
            <a:r>
              <a:rPr lang="en"/>
              <a:t>he page may not update as soon as the billing project is created. If it’s been a couple of minutes and you don’t see a change, try refreshing the page.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105956e90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105956e90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It should now show up in the list of Billing Project owned by you.  You can add </a:t>
            </a:r>
            <a:r>
              <a:rPr lang="en">
                <a:solidFill>
                  <a:schemeClr val="dk1"/>
                </a:solidFill>
              </a:rPr>
              <a:t>additional</a:t>
            </a:r>
            <a:r>
              <a:rPr lang="en">
                <a:solidFill>
                  <a:schemeClr val="dk1"/>
                </a:solidFill>
              </a:rPr>
              <a:t> members or can </a:t>
            </a:r>
            <a:r>
              <a:rPr lang="en">
                <a:solidFill>
                  <a:schemeClr val="dk1"/>
                </a:solidFill>
              </a:rPr>
              <a:t>modify</a:t>
            </a:r>
            <a:r>
              <a:rPr lang="en">
                <a:solidFill>
                  <a:schemeClr val="dk1"/>
                </a:solidFill>
              </a:rPr>
              <a:t> or deactivate the Billing Project at any time by clicking on its name in this list.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anvil.terra.bio/" TargetMode="External"/><Relationship Id="rId5" Type="http://schemas.openxmlformats.org/officeDocument/2006/relationships/hyperlink" Target="https://creativecommons.org/licenses/by/4.0/" TargetMode="External"/><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anvil.terra.bio/#billing" TargetMode="External"/><Relationship Id="rId5" Type="http://schemas.openxmlformats.org/officeDocument/2006/relationships/hyperlink" Target="https://creativecommons.org/licenses/by/4.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anvil.terra.bio/#billing" TargetMode="External"/><Relationship Id="rId5" Type="http://schemas.openxmlformats.org/officeDocument/2006/relationships/hyperlink" Target="https://creativecommons.org/licenses/by/4.0/" TargetMode="External"/><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hyperlink" Target="https://anvil.terra.bio/#billing" TargetMode="External"/><Relationship Id="rId5" Type="http://schemas.openxmlformats.org/officeDocument/2006/relationships/hyperlink" Target="https://creativecommons.org/licenses/by/4.0/" TargetMode="External"/><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hyperlink" Target="https://anvil.terra.bio/#billing" TargetMode="External"/><Relationship Id="rId5" Type="http://schemas.openxmlformats.org/officeDocument/2006/relationships/hyperlink" Target="https://creativecommons.org/licenses/by/4.0/" TargetMode="External"/><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Create Terra</a:t>
            </a:r>
            <a:endParaRPr/>
          </a:p>
          <a:p>
            <a:pPr indent="0" lvl="0" marL="0" rtl="0" algn="ctr">
              <a:spcBef>
                <a:spcPts val="0"/>
              </a:spcBef>
              <a:spcAft>
                <a:spcPts val="0"/>
              </a:spcAft>
              <a:buNone/>
            </a:pPr>
            <a:r>
              <a:rPr lang="en"/>
              <a:t>Billing Project</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a:t>
            </a:r>
            <a:r>
              <a:rPr lang="en" u="sng">
                <a:solidFill>
                  <a:schemeClr val="hlink"/>
                </a:solidFill>
                <a:hlinkClick r:id="rId4"/>
              </a:rPr>
              <a:t> </a:t>
            </a:r>
            <a:r>
              <a:rPr lang="en"/>
              <a:t> </a:t>
            </a:r>
            <a:r>
              <a:rPr lang="en"/>
              <a:t>homepage  screenshot by Katherine Cox.  </a:t>
            </a:r>
            <a:r>
              <a:rPr lang="en" u="sng">
                <a:solidFill>
                  <a:schemeClr val="accent5"/>
                </a:solidFill>
                <a:hlinkClick r:id="rId5">
                  <a:extLst>
                    <a:ext uri="{A12FA001-AC4F-418D-AE19-62706E023703}">
                      <ahyp:hlinkClr val="tx"/>
                    </a:ext>
                  </a:extLst>
                </a:hlinkClick>
              </a:rPr>
              <a:t>CC-BY-4.0</a:t>
            </a:r>
            <a:endParaRPr/>
          </a:p>
        </p:txBody>
      </p:sp>
      <p:pic>
        <p:nvPicPr>
          <p:cNvPr id="160" name="Google Shape;160;p15"/>
          <p:cNvPicPr preferRelativeResize="0"/>
          <p:nvPr/>
        </p:nvPicPr>
        <p:blipFill>
          <a:blip r:embed="rId6">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Billing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3063240"/>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7"/>
          <p:cNvPicPr preferRelativeResize="0"/>
          <p:nvPr/>
        </p:nvPicPr>
        <p:blipFill>
          <a:blip r:embed="rId3">
            <a:alphaModFix/>
          </a:blip>
          <a:stretch>
            <a:fillRect/>
          </a:stretch>
        </p:blipFill>
        <p:spPr>
          <a:xfrm>
            <a:off x="228600" y="520700"/>
            <a:ext cx="8686800" cy="4102100"/>
          </a:xfrm>
          <a:prstGeom prst="rect">
            <a:avLst/>
          </a:prstGeom>
          <a:noFill/>
          <a:ln>
            <a:noFill/>
          </a:ln>
        </p:spPr>
      </p:pic>
      <p:sp>
        <p:nvSpPr>
          <p:cNvPr id="175" name="Google Shape;175;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https://anvil.terra.bio/#billing</a:t>
            </a:r>
            <a:r>
              <a:rPr lang="en"/>
              <a:t> add a Billing Project screenshot by Ava Hoffman.  </a:t>
            </a:r>
            <a:r>
              <a:rPr lang="en" u="sng">
                <a:solidFill>
                  <a:schemeClr val="accent5"/>
                </a:solidFill>
                <a:hlinkClick r:id="rId5">
                  <a:extLst>
                    <a:ext uri="{A12FA001-AC4F-418D-AE19-62706E023703}">
                      <ahyp:hlinkClr val="tx"/>
                    </a:ext>
                  </a:extLst>
                </a:hlinkClick>
              </a:rPr>
              <a:t>CC-BY-4.0</a:t>
            </a:r>
            <a:endParaRPr/>
          </a:p>
        </p:txBody>
      </p:sp>
      <p:sp>
        <p:nvSpPr>
          <p:cNvPr id="176" name="Google Shape;176;p17"/>
          <p:cNvSpPr/>
          <p:nvPr/>
        </p:nvSpPr>
        <p:spPr>
          <a:xfrm>
            <a:off x="2900200" y="1818875"/>
            <a:ext cx="1538700" cy="580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18"/>
          <p:cNvPicPr preferRelativeResize="0"/>
          <p:nvPr/>
        </p:nvPicPr>
        <p:blipFill>
          <a:blip r:embed="rId3">
            <a:alphaModFix/>
          </a:blip>
          <a:stretch>
            <a:fillRect/>
          </a:stretch>
        </p:blipFill>
        <p:spPr>
          <a:xfrm>
            <a:off x="1066800" y="347663"/>
            <a:ext cx="7010400" cy="4448175"/>
          </a:xfrm>
          <a:prstGeom prst="rect">
            <a:avLst/>
          </a:prstGeom>
          <a:noFill/>
          <a:ln>
            <a:noFill/>
          </a:ln>
        </p:spPr>
      </p:pic>
      <p:sp>
        <p:nvSpPr>
          <p:cNvPr id="182" name="Google Shape;182;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4">
                  <a:extLst>
                    <a:ext uri="{A12FA001-AC4F-418D-AE19-62706E023703}">
                      <ahyp:hlinkClr val="tx"/>
                    </a:ext>
                  </a:extLst>
                </a:hlinkClick>
              </a:rPr>
              <a:t>https://anvil.terra.bio/#billing</a:t>
            </a:r>
            <a:r>
              <a:rPr lang="en"/>
              <a:t> add a Billing Project dialog box screenshot by Ava Hoffman.  </a:t>
            </a:r>
            <a:r>
              <a:rPr lang="en" u="sng">
                <a:solidFill>
                  <a:schemeClr val="accent5"/>
                </a:solidFill>
                <a:hlinkClick r:id="rId5">
                  <a:extLst>
                    <a:ext uri="{A12FA001-AC4F-418D-AE19-62706E023703}">
                      <ahyp:hlinkClr val="tx"/>
                    </a:ext>
                  </a:extLst>
                </a:hlinkClick>
              </a:rPr>
              <a:t>CC-BY-4.0</a:t>
            </a:r>
            <a:endParaRPr/>
          </a:p>
        </p:txBody>
      </p:sp>
      <p:sp>
        <p:nvSpPr>
          <p:cNvPr id="183" name="Google Shape;183;p18"/>
          <p:cNvSpPr/>
          <p:nvPr/>
        </p:nvSpPr>
        <p:spPr>
          <a:xfrm>
            <a:off x="1510950" y="1318050"/>
            <a:ext cx="6122100" cy="125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 name="Google Shape;184;p18"/>
          <p:cNvGrpSpPr/>
          <p:nvPr/>
        </p:nvGrpSpPr>
        <p:grpSpPr>
          <a:xfrm>
            <a:off x="1795250" y="1781000"/>
            <a:ext cx="2935200" cy="370500"/>
            <a:chOff x="1795250" y="1781000"/>
            <a:chExt cx="2935200" cy="370500"/>
          </a:xfrm>
        </p:grpSpPr>
        <p:sp>
          <p:nvSpPr>
            <p:cNvPr id="185" name="Google Shape;185;p18"/>
            <p:cNvSpPr/>
            <p:nvPr/>
          </p:nvSpPr>
          <p:spPr>
            <a:xfrm>
              <a:off x="1795250" y="1781000"/>
              <a:ext cx="2935200" cy="370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 name="Google Shape;186;p18"/>
            <p:cNvPicPr preferRelativeResize="0"/>
            <p:nvPr/>
          </p:nvPicPr>
          <p:blipFill>
            <a:blip r:embed="rId6">
              <a:alphaModFix/>
            </a:blip>
            <a:stretch>
              <a:fillRect/>
            </a:stretch>
          </p:blipFill>
          <p:spPr>
            <a:xfrm>
              <a:off x="1828800" y="1810512"/>
              <a:ext cx="2666050" cy="333275"/>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Billing Project Name</a:t>
            </a:r>
            <a:endParaRPr/>
          </a:p>
        </p:txBody>
      </p:sp>
      <p:sp>
        <p:nvSpPr>
          <p:cNvPr id="192" name="Google Shape;192;p19"/>
          <p:cNvSpPr txBox="1"/>
          <p:nvPr>
            <p:ph idx="1" type="body"/>
          </p:nvPr>
        </p:nvSpPr>
        <p:spPr>
          <a:xfrm>
            <a:off x="1297500" y="1460250"/>
            <a:ext cx="7038900" cy="278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Only contain lowercase letters, numbers and hyphens</a:t>
            </a:r>
            <a:endParaRPr/>
          </a:p>
          <a:p>
            <a:pPr indent="-355600" lvl="0" marL="457200" rtl="0" algn="l">
              <a:spcBef>
                <a:spcPts val="0"/>
              </a:spcBef>
              <a:spcAft>
                <a:spcPts val="0"/>
              </a:spcAft>
              <a:buSzPts val="2000"/>
              <a:buChar char="●"/>
            </a:pPr>
            <a:r>
              <a:rPr lang="en"/>
              <a:t>Start with a lowercase letter</a:t>
            </a:r>
            <a:endParaRPr/>
          </a:p>
          <a:p>
            <a:pPr indent="-355600" lvl="0" marL="457200" rtl="0" algn="l">
              <a:spcBef>
                <a:spcPts val="0"/>
              </a:spcBef>
              <a:spcAft>
                <a:spcPts val="0"/>
              </a:spcAft>
              <a:buSzPts val="2000"/>
              <a:buChar char="●"/>
            </a:pPr>
            <a:r>
              <a:rPr lang="en"/>
              <a:t>Not end with a hyphen</a:t>
            </a:r>
            <a:endParaRPr/>
          </a:p>
          <a:p>
            <a:pPr indent="-355600" lvl="0" marL="457200" rtl="0" algn="l">
              <a:spcBef>
                <a:spcPts val="0"/>
              </a:spcBef>
              <a:spcAft>
                <a:spcPts val="0"/>
              </a:spcAft>
              <a:buSzPts val="2000"/>
              <a:buChar char="●"/>
            </a:pPr>
            <a:r>
              <a:rPr lang="en"/>
              <a:t>Be between 6 and 30 characters</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0"/>
          <p:cNvPicPr preferRelativeResize="0"/>
          <p:nvPr/>
        </p:nvPicPr>
        <p:blipFill>
          <a:blip r:embed="rId3">
            <a:alphaModFix/>
          </a:blip>
          <a:stretch>
            <a:fillRect/>
          </a:stretch>
        </p:blipFill>
        <p:spPr>
          <a:xfrm>
            <a:off x="1066800" y="347663"/>
            <a:ext cx="7010400" cy="4448175"/>
          </a:xfrm>
          <a:prstGeom prst="rect">
            <a:avLst/>
          </a:prstGeom>
          <a:noFill/>
          <a:ln>
            <a:noFill/>
          </a:ln>
        </p:spPr>
      </p:pic>
      <p:sp>
        <p:nvSpPr>
          <p:cNvPr id="198" name="Google Shape;198;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4">
                  <a:extLst>
                    <a:ext uri="{A12FA001-AC4F-418D-AE19-62706E023703}">
                      <ahyp:hlinkClr val="tx"/>
                    </a:ext>
                  </a:extLst>
                </a:hlinkClick>
              </a:rPr>
              <a:t>https://anvil.terra.bio/#billing</a:t>
            </a:r>
            <a:r>
              <a:rPr lang="en"/>
              <a:t> add a Billing Project dialog box screenshot by Ava Hoffman.  </a:t>
            </a:r>
            <a:r>
              <a:rPr lang="en" u="sng">
                <a:solidFill>
                  <a:schemeClr val="accent5"/>
                </a:solidFill>
                <a:hlinkClick r:id="rId5">
                  <a:extLst>
                    <a:ext uri="{A12FA001-AC4F-418D-AE19-62706E023703}">
                      <ahyp:hlinkClr val="tx"/>
                    </a:ext>
                  </a:extLst>
                </a:hlinkClick>
              </a:rPr>
              <a:t>CC-BY-4.0</a:t>
            </a:r>
            <a:endParaRPr/>
          </a:p>
        </p:txBody>
      </p:sp>
      <p:sp>
        <p:nvSpPr>
          <p:cNvPr id="199" name="Google Shape;199;p20"/>
          <p:cNvSpPr/>
          <p:nvPr/>
        </p:nvSpPr>
        <p:spPr>
          <a:xfrm>
            <a:off x="1472150" y="2571750"/>
            <a:ext cx="6122100" cy="1089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 name="Google Shape;200;p20"/>
          <p:cNvGrpSpPr/>
          <p:nvPr/>
        </p:nvGrpSpPr>
        <p:grpSpPr>
          <a:xfrm>
            <a:off x="1795250" y="1781000"/>
            <a:ext cx="2935200" cy="370500"/>
            <a:chOff x="1795250" y="1781000"/>
            <a:chExt cx="2935200" cy="370500"/>
          </a:xfrm>
        </p:grpSpPr>
        <p:sp>
          <p:nvSpPr>
            <p:cNvPr id="201" name="Google Shape;201;p20"/>
            <p:cNvSpPr/>
            <p:nvPr/>
          </p:nvSpPr>
          <p:spPr>
            <a:xfrm>
              <a:off x="1795250" y="1781000"/>
              <a:ext cx="2935200" cy="370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20"/>
            <p:cNvPicPr preferRelativeResize="0"/>
            <p:nvPr/>
          </p:nvPicPr>
          <p:blipFill>
            <a:blip r:embed="rId6">
              <a:alphaModFix/>
            </a:blip>
            <a:stretch>
              <a:fillRect/>
            </a:stretch>
          </p:blipFill>
          <p:spPr>
            <a:xfrm>
              <a:off x="1828800" y="1810512"/>
              <a:ext cx="2666050" cy="333275"/>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1"/>
          <p:cNvPicPr preferRelativeResize="0"/>
          <p:nvPr/>
        </p:nvPicPr>
        <p:blipFill>
          <a:blip r:embed="rId3">
            <a:alphaModFix/>
          </a:blip>
          <a:stretch>
            <a:fillRect/>
          </a:stretch>
        </p:blipFill>
        <p:spPr>
          <a:xfrm>
            <a:off x="1066800" y="347663"/>
            <a:ext cx="7010400" cy="4448175"/>
          </a:xfrm>
          <a:prstGeom prst="rect">
            <a:avLst/>
          </a:prstGeom>
          <a:noFill/>
          <a:ln>
            <a:noFill/>
          </a:ln>
        </p:spPr>
      </p:pic>
      <p:sp>
        <p:nvSpPr>
          <p:cNvPr id="208" name="Google Shape;208;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4">
                  <a:extLst>
                    <a:ext uri="{A12FA001-AC4F-418D-AE19-62706E023703}">
                      <ahyp:hlinkClr val="tx"/>
                    </a:ext>
                  </a:extLst>
                </a:hlinkClick>
              </a:rPr>
              <a:t>https://anvil.terra.bio/#billing</a:t>
            </a:r>
            <a:r>
              <a:rPr lang="en"/>
              <a:t> add a Billing Project dialog box screenshot by Ava Hoffman.  </a:t>
            </a:r>
            <a:r>
              <a:rPr lang="en" u="sng">
                <a:solidFill>
                  <a:schemeClr val="accent5"/>
                </a:solidFill>
                <a:hlinkClick r:id="rId5">
                  <a:extLst>
                    <a:ext uri="{A12FA001-AC4F-418D-AE19-62706E023703}">
                      <ahyp:hlinkClr val="tx"/>
                    </a:ext>
                  </a:extLst>
                </a:hlinkClick>
              </a:rPr>
              <a:t>CC-BY-4.0</a:t>
            </a:r>
            <a:endParaRPr/>
          </a:p>
        </p:txBody>
      </p:sp>
      <p:sp>
        <p:nvSpPr>
          <p:cNvPr id="209" name="Google Shape;209;p21"/>
          <p:cNvSpPr/>
          <p:nvPr/>
        </p:nvSpPr>
        <p:spPr>
          <a:xfrm>
            <a:off x="4293250" y="3689800"/>
            <a:ext cx="3239700" cy="645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21"/>
          <p:cNvGrpSpPr/>
          <p:nvPr/>
        </p:nvGrpSpPr>
        <p:grpSpPr>
          <a:xfrm>
            <a:off x="1795250" y="1781000"/>
            <a:ext cx="2935200" cy="370500"/>
            <a:chOff x="1795250" y="1781000"/>
            <a:chExt cx="2935200" cy="370500"/>
          </a:xfrm>
        </p:grpSpPr>
        <p:sp>
          <p:nvSpPr>
            <p:cNvPr id="211" name="Google Shape;211;p21"/>
            <p:cNvSpPr/>
            <p:nvPr/>
          </p:nvSpPr>
          <p:spPr>
            <a:xfrm>
              <a:off x="1795250" y="1781000"/>
              <a:ext cx="2935200" cy="370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21"/>
            <p:cNvPicPr preferRelativeResize="0"/>
            <p:nvPr/>
          </p:nvPicPr>
          <p:blipFill>
            <a:blip r:embed="rId6">
              <a:alphaModFix/>
            </a:blip>
            <a:stretch>
              <a:fillRect/>
            </a:stretch>
          </p:blipFill>
          <p:spPr>
            <a:xfrm>
              <a:off x="1828800" y="1810512"/>
              <a:ext cx="2666050" cy="333275"/>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18" name="Google Shape;218;p22"/>
          <p:cNvPicPr preferRelativeResize="0"/>
          <p:nvPr/>
        </p:nvPicPr>
        <p:blipFill>
          <a:blip r:embed="rId3">
            <a:alphaModFix/>
          </a:blip>
          <a:stretch>
            <a:fillRect/>
          </a:stretch>
        </p:blipFill>
        <p:spPr>
          <a:xfrm>
            <a:off x="2515400" y="180900"/>
            <a:ext cx="4113206" cy="4377551"/>
          </a:xfrm>
          <a:prstGeom prst="rect">
            <a:avLst/>
          </a:prstGeom>
          <a:noFill/>
          <a:ln>
            <a:noFill/>
          </a:ln>
        </p:spPr>
      </p:pic>
      <p:sp>
        <p:nvSpPr>
          <p:cNvPr id="219" name="Google Shape;219;p22"/>
          <p:cNvSpPr/>
          <p:nvPr/>
        </p:nvSpPr>
        <p:spPr>
          <a:xfrm>
            <a:off x="2725975" y="3504575"/>
            <a:ext cx="2417400" cy="41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2677725" y="1966225"/>
            <a:ext cx="3406200" cy="351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