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will show you how to add Terra to your Google Cloud Platform Billing Account.  This gives Terra permission to create projects and send charges to the Google Billing Account, which is necessary for you to start working on AnVIL.  If you have not already created a GCP Billing Account, go ahead and do </a:t>
            </a:r>
            <a:r>
              <a:rPr lang="en"/>
              <a:t>that first</a:t>
            </a:r>
            <a:r>
              <a:rPr lang="en"/>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Except where otherwise indicated, this content is available for use under CC B Y 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5e284bd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5e284bd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get started, </a:t>
            </a:r>
            <a:r>
              <a:rPr lang="en">
                <a:solidFill>
                  <a:schemeClr val="dk1"/>
                </a:solidFill>
              </a:rPr>
              <a:t>log in to the Google Cloud Platform console using the Google </a:t>
            </a:r>
            <a:r>
              <a:rPr lang="en">
                <a:solidFill>
                  <a:schemeClr val="dk1"/>
                </a:solidFill>
              </a:rPr>
              <a:t>ID</a:t>
            </a:r>
            <a:r>
              <a:rPr lang="en"/>
              <a:t> associated with your Billing Account.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5e284bdc2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5e284bdc2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 the dropdown menu on the top left and click on Billing.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15e284bdc2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15e284bdc2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may be automatically directed to view a specific Billing Account. If you see information about a single account, you can get back to the list of all your Billing Accounts by clicking “Manage Billing Accounts” from the drop-down menu.</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16e2c647a7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16e2c647a7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 the box next to the Billing Account you wish to add a member to, then click “ADD MEMBER” on the right.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16e2d0fe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16e2d0fe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Enter terra-billing@terra.bio in the text box. In the drop-down menu, mouse over Billing, then choose “Billing Account User”.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16e2d0fe67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16e2d0fe67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Click “Save” to complete the process.  Terra should now be able to create projects associated with your Google Billing Account.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6052847" y="4331125"/>
            <a:ext cx="810900" cy="713825"/>
          </a:xfrm>
          <a:prstGeom prst="rect">
            <a:avLst/>
          </a:prstGeom>
          <a:noFill/>
          <a:ln>
            <a:noFill/>
          </a:ln>
        </p:spPr>
      </p:pic>
      <p:pic>
        <p:nvPicPr>
          <p:cNvPr id="20" name="Google Shape;20;p2"/>
          <p:cNvPicPr preferRelativeResize="0"/>
          <p:nvPr/>
        </p:nvPicPr>
        <p:blipFill rotWithShape="1">
          <a:blip r:embed="rId3">
            <a:alphaModFix/>
          </a:blip>
          <a:srcRect b="0" l="17840" r="20320" t="0"/>
          <a:stretch/>
        </p:blipFill>
        <p:spPr>
          <a:xfrm>
            <a:off x="6969175" y="4319250"/>
            <a:ext cx="810900" cy="737575"/>
          </a:xfrm>
          <a:prstGeom prst="rect">
            <a:avLst/>
          </a:prstGeom>
          <a:noFill/>
          <a:ln>
            <a:noFill/>
          </a:ln>
        </p:spPr>
      </p:pic>
      <p:pic>
        <p:nvPicPr>
          <p:cNvPr id="21" name="Google Shape;21;p2"/>
          <p:cNvPicPr preferRelativeResize="0"/>
          <p:nvPr/>
        </p:nvPicPr>
        <p:blipFill>
          <a:blip r:embed="rId4">
            <a:alphaModFix/>
          </a:blip>
          <a:stretch>
            <a:fillRect/>
          </a:stretch>
        </p:blipFill>
        <p:spPr>
          <a:xfrm>
            <a:off x="7790688" y="4466350"/>
            <a:ext cx="1277302" cy="372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3"/>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4"/>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grpSp>
        <p:nvGrpSpPr>
          <p:cNvPr id="54" name="Google Shape;54;p5"/>
          <p:cNvGrpSpPr/>
          <p:nvPr/>
        </p:nvGrpSpPr>
        <p:grpSpPr>
          <a:xfrm>
            <a:off x="0" y="381001"/>
            <a:ext cx="1037850" cy="1016287"/>
            <a:chOff x="0" y="381001"/>
            <a:chExt cx="1037850" cy="1016287"/>
          </a:xfrm>
        </p:grpSpPr>
        <p:sp>
          <p:nvSpPr>
            <p:cNvPr id="55" name="Google Shape;55;p5"/>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Johns Hopkins Data Science Lab.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60" name="Google Shape;60;p5"/>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1" name="Google Shape;61;p5"/>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7" name="Google Shape;6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6"/>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grpSp>
        <p:nvGrpSpPr>
          <p:cNvPr id="70" name="Google Shape;70;p7"/>
          <p:cNvGrpSpPr/>
          <p:nvPr/>
        </p:nvGrpSpPr>
        <p:grpSpPr>
          <a:xfrm>
            <a:off x="0" y="381001"/>
            <a:ext cx="1037850" cy="1016287"/>
            <a:chOff x="0" y="381001"/>
            <a:chExt cx="1037850" cy="1016287"/>
          </a:xfrm>
        </p:grpSpPr>
        <p:sp>
          <p:nvSpPr>
            <p:cNvPr id="71" name="Google Shape;71;p7"/>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grpSp>
        <p:nvGrpSpPr>
          <p:cNvPr id="78" name="Google Shape;78;p8"/>
          <p:cNvGrpSpPr/>
          <p:nvPr/>
        </p:nvGrpSpPr>
        <p:grpSpPr>
          <a:xfrm>
            <a:off x="4406400" y="0"/>
            <a:ext cx="4737600" cy="5143500"/>
            <a:chOff x="4406400" y="0"/>
            <a:chExt cx="4737600" cy="5143500"/>
          </a:xfrm>
        </p:grpSpPr>
        <p:sp>
          <p:nvSpPr>
            <p:cNvPr id="79" name="Google Shape;79;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6908099" y="2069680"/>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7227414" y="3711189"/>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8"/>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grpSp>
        <p:nvGrpSpPr>
          <p:cNvPr id="101" name="Google Shape;101;p9"/>
          <p:cNvGrpSpPr/>
          <p:nvPr/>
        </p:nvGrpSpPr>
        <p:grpSpPr>
          <a:xfrm>
            <a:off x="0" y="381001"/>
            <a:ext cx="1037850" cy="1016287"/>
            <a:chOff x="0" y="381001"/>
            <a:chExt cx="1037850" cy="1016287"/>
          </a:xfrm>
        </p:grpSpPr>
        <p:sp>
          <p:nvSpPr>
            <p:cNvPr id="102" name="Google Shape;102;p9"/>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5" name="Google Shape;105;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06" name="Google Shape;106;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07" name="Google Shape;10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9"/>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grpSp>
        <p:nvGrpSpPr>
          <p:cNvPr id="110" name="Google Shape;110;p10"/>
          <p:cNvGrpSpPr/>
          <p:nvPr/>
        </p:nvGrpSpPr>
        <p:grpSpPr>
          <a:xfrm>
            <a:off x="43237" y="4724428"/>
            <a:ext cx="428721" cy="393609"/>
            <a:chOff x="0" y="3785672"/>
            <a:chExt cx="698925" cy="684657"/>
          </a:xfrm>
        </p:grpSpPr>
        <p:sp>
          <p:nvSpPr>
            <p:cNvPr id="111" name="Google Shape;11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14" name="Google Shape;11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0"/>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grpSp>
        <p:nvGrpSpPr>
          <p:cNvPr id="117" name="Google Shape;117;p11"/>
          <p:cNvGrpSpPr/>
          <p:nvPr/>
        </p:nvGrpSpPr>
        <p:grpSpPr>
          <a:xfrm>
            <a:off x="4406400" y="0"/>
            <a:ext cx="4737600" cy="5143065"/>
            <a:chOff x="4406400" y="0"/>
            <a:chExt cx="4737600" cy="5143065"/>
          </a:xfrm>
        </p:grpSpPr>
        <p:sp>
          <p:nvSpPr>
            <p:cNvPr id="118" name="Google Shape;11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37" name="Google Shape;13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38" name="Google Shape;13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12"/>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console.cloud.google.com/" TargetMode="External"/><Relationship Id="rId4" Type="http://schemas.openxmlformats.org/officeDocument/2006/relationships/hyperlink" Target="https://creativecommons.org/licenses/by/4.0/" TargetMode="External"/><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console.cloud.google.com/" TargetMode="External"/><Relationship Id="rId4" Type="http://schemas.openxmlformats.org/officeDocument/2006/relationships/hyperlink" Target="https://creativecommons.org/licenses/by/4.0/" TargetMode="External"/><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7.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Add Terra to</a:t>
            </a:r>
            <a:endParaRPr/>
          </a:p>
          <a:p>
            <a:pPr indent="0" lvl="0" marL="0" rtl="0" algn="ctr">
              <a:spcBef>
                <a:spcPts val="0"/>
              </a:spcBef>
              <a:spcAft>
                <a:spcPts val="0"/>
              </a:spcAft>
              <a:buNone/>
            </a:pPr>
            <a:r>
              <a:rPr lang="en"/>
              <a:t>GCP Billing</a:t>
            </a:r>
            <a:endParaRPr/>
          </a:p>
        </p:txBody>
      </p:sp>
      <p:sp>
        <p:nvSpPr>
          <p:cNvPr id="148" name="Google Shape;148;p1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54" name="Google Shape;154;p14"/>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a:t> </a:t>
            </a:r>
            <a:r>
              <a:rPr lang="en" u="sng">
                <a:solidFill>
                  <a:schemeClr val="accent5"/>
                </a:solidFill>
                <a:hlinkClick r:id="rId3">
                  <a:extLst>
                    <a:ext uri="{A12FA001-AC4F-418D-AE19-62706E023703}">
                      <ahyp:hlinkClr val="tx"/>
                    </a:ext>
                  </a:extLst>
                </a:hlinkClick>
              </a:rPr>
              <a:t>https://console.cloud.google.com/</a:t>
            </a:r>
            <a:r>
              <a:rPr lang="en"/>
              <a:t>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0" name="Google Shape;160;p15"/>
          <p:cNvPicPr preferRelativeResize="0"/>
          <p:nvPr/>
        </p:nvPicPr>
        <p:blipFill>
          <a:blip r:embed="rId5">
            <a:alphaModFix/>
          </a:blip>
          <a:stretch>
            <a:fillRect/>
          </a:stretch>
        </p:blipFill>
        <p:spPr>
          <a:xfrm>
            <a:off x="152400" y="1598488"/>
            <a:ext cx="8839204" cy="19465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a:t> </a:t>
            </a:r>
            <a:r>
              <a:rPr lang="en" u="sng">
                <a:solidFill>
                  <a:schemeClr val="accent5"/>
                </a:solidFill>
                <a:hlinkClick r:id="rId3">
                  <a:extLst>
                    <a:ext uri="{A12FA001-AC4F-418D-AE19-62706E023703}">
                      <ahyp:hlinkClr val="tx"/>
                    </a:ext>
                  </a:extLst>
                </a:hlinkClick>
              </a:rPr>
              <a:t>https://console.cloud.google.com/</a:t>
            </a:r>
            <a:r>
              <a:rPr lang="en"/>
              <a:t> select billing from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6" name="Google Shape;166;p16"/>
          <p:cNvPicPr preferRelativeResize="0"/>
          <p:nvPr/>
        </p:nvPicPr>
        <p:blipFill>
          <a:blip r:embed="rId5">
            <a:alphaModFix/>
          </a:blip>
          <a:stretch>
            <a:fillRect/>
          </a:stretch>
        </p:blipFill>
        <p:spPr>
          <a:xfrm>
            <a:off x="152400" y="1598488"/>
            <a:ext cx="8839204" cy="1946524"/>
          </a:xfrm>
          <a:prstGeom prst="rect">
            <a:avLst/>
          </a:prstGeom>
          <a:noFill/>
          <a:ln>
            <a:noFill/>
          </a:ln>
        </p:spPr>
      </p:pic>
      <p:sp>
        <p:nvSpPr>
          <p:cNvPr id="167" name="Google Shape;167;p16"/>
          <p:cNvSpPr/>
          <p:nvPr/>
        </p:nvSpPr>
        <p:spPr>
          <a:xfrm>
            <a:off x="215675" y="2657838"/>
            <a:ext cx="795600" cy="3237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7"/>
          <p:cNvSpPr txBox="1"/>
          <p:nvPr>
            <p:ph idx="1" type="body"/>
          </p:nvPr>
        </p:nvSpPr>
        <p:spPr>
          <a:xfrm>
            <a:off x="418425" y="4682350"/>
            <a:ext cx="62904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https://console.cloud.google.com/billing/</a:t>
            </a:r>
            <a:r>
              <a:rPr lang="en"/>
              <a:t> dropdown menu for an individual billing account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73" name="Google Shape;173;p17"/>
          <p:cNvPicPr preferRelativeResize="0"/>
          <p:nvPr/>
        </p:nvPicPr>
        <p:blipFill>
          <a:blip r:embed="rId5">
            <a:alphaModFix/>
          </a:blip>
          <a:stretch>
            <a:fillRect/>
          </a:stretch>
        </p:blipFill>
        <p:spPr>
          <a:xfrm>
            <a:off x="152400" y="1173363"/>
            <a:ext cx="8839204" cy="2796779"/>
          </a:xfrm>
          <a:prstGeom prst="rect">
            <a:avLst/>
          </a:prstGeom>
          <a:noFill/>
          <a:ln>
            <a:noFill/>
          </a:ln>
        </p:spPr>
      </p:pic>
      <p:pic>
        <p:nvPicPr>
          <p:cNvPr id="174" name="Google Shape;174;p17"/>
          <p:cNvPicPr preferRelativeResize="0"/>
          <p:nvPr/>
        </p:nvPicPr>
        <p:blipFill>
          <a:blip r:embed="rId6">
            <a:alphaModFix/>
          </a:blip>
          <a:stretch>
            <a:fillRect/>
          </a:stretch>
        </p:blipFill>
        <p:spPr>
          <a:xfrm>
            <a:off x="2867250" y="1768757"/>
            <a:ext cx="2038350" cy="1238243"/>
          </a:xfrm>
          <a:prstGeom prst="rect">
            <a:avLst/>
          </a:prstGeom>
          <a:noFill/>
          <a:ln>
            <a:noFill/>
          </a:ln>
        </p:spPr>
      </p:pic>
      <p:sp>
        <p:nvSpPr>
          <p:cNvPr id="175" name="Google Shape;175;p17"/>
          <p:cNvSpPr/>
          <p:nvPr/>
        </p:nvSpPr>
        <p:spPr>
          <a:xfrm>
            <a:off x="2867250" y="1504750"/>
            <a:ext cx="10296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
          <p:cNvSpPr/>
          <p:nvPr/>
        </p:nvSpPr>
        <p:spPr>
          <a:xfrm>
            <a:off x="2895900" y="2643225"/>
            <a:ext cx="18702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u="sng">
                <a:solidFill>
                  <a:schemeClr val="accent5"/>
                </a:solidFill>
                <a:hlinkClick r:id="rId3">
                  <a:extLst>
                    <a:ext uri="{A12FA001-AC4F-418D-AE19-62706E023703}">
                      <ahyp:hlinkClr val="tx"/>
                    </a:ext>
                  </a:extLst>
                </a:hlinkClick>
              </a:rPr>
              <a:t>https://console.cloud.google.com/billing/</a:t>
            </a:r>
            <a:r>
              <a:rPr lang="en"/>
              <a:t> add member to billing account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2" name="Google Shape;182;p18"/>
          <p:cNvPicPr preferRelativeResize="0"/>
          <p:nvPr/>
        </p:nvPicPr>
        <p:blipFill>
          <a:blip r:embed="rId5">
            <a:alphaModFix/>
          </a:blip>
          <a:stretch>
            <a:fillRect/>
          </a:stretch>
        </p:blipFill>
        <p:spPr>
          <a:xfrm>
            <a:off x="152400" y="1503538"/>
            <a:ext cx="8839204" cy="2136429"/>
          </a:xfrm>
          <a:prstGeom prst="rect">
            <a:avLst/>
          </a:prstGeom>
          <a:noFill/>
          <a:ln>
            <a:noFill/>
          </a:ln>
        </p:spPr>
      </p:pic>
      <p:sp>
        <p:nvSpPr>
          <p:cNvPr id="183" name="Google Shape;183;p18"/>
          <p:cNvSpPr/>
          <p:nvPr/>
        </p:nvSpPr>
        <p:spPr>
          <a:xfrm>
            <a:off x="323450" y="3307775"/>
            <a:ext cx="3753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
          <p:cNvSpPr/>
          <p:nvPr/>
        </p:nvSpPr>
        <p:spPr>
          <a:xfrm>
            <a:off x="7771800" y="2887125"/>
            <a:ext cx="10296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9"/>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https://console.cloud.google.com/billing/</a:t>
            </a:r>
            <a:r>
              <a:rPr lang="en"/>
              <a:t> add Terra as Billing Account User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90" name="Google Shape;190;p19"/>
          <p:cNvPicPr preferRelativeResize="0"/>
          <p:nvPr/>
        </p:nvPicPr>
        <p:blipFill>
          <a:blip r:embed="rId5">
            <a:alphaModFix/>
          </a:blip>
          <a:stretch>
            <a:fillRect/>
          </a:stretch>
        </p:blipFill>
        <p:spPr>
          <a:xfrm>
            <a:off x="152400" y="382975"/>
            <a:ext cx="5115583" cy="4377550"/>
          </a:xfrm>
          <a:prstGeom prst="rect">
            <a:avLst/>
          </a:prstGeom>
          <a:noFill/>
          <a:ln>
            <a:noFill/>
          </a:ln>
        </p:spPr>
      </p:pic>
      <p:sp>
        <p:nvSpPr>
          <p:cNvPr id="191" name="Google Shape;191;p19"/>
          <p:cNvSpPr/>
          <p:nvPr/>
        </p:nvSpPr>
        <p:spPr>
          <a:xfrm>
            <a:off x="1663900" y="3218688"/>
            <a:ext cx="11595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
          <p:cNvSpPr/>
          <p:nvPr/>
        </p:nvSpPr>
        <p:spPr>
          <a:xfrm>
            <a:off x="348700" y="3677763"/>
            <a:ext cx="10296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9"/>
          <p:cNvSpPr/>
          <p:nvPr/>
        </p:nvSpPr>
        <p:spPr>
          <a:xfrm>
            <a:off x="272500" y="1551426"/>
            <a:ext cx="1315200" cy="3354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https://console.cloud.google.com/billing/</a:t>
            </a:r>
            <a:r>
              <a:rPr lang="en"/>
              <a:t> save Terra as Billing Account User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99" name="Google Shape;199;p20"/>
          <p:cNvPicPr preferRelativeResize="0"/>
          <p:nvPr/>
        </p:nvPicPr>
        <p:blipFill>
          <a:blip r:embed="rId5">
            <a:alphaModFix/>
          </a:blip>
          <a:stretch>
            <a:fillRect/>
          </a:stretch>
        </p:blipFill>
        <p:spPr>
          <a:xfrm>
            <a:off x="152400" y="382975"/>
            <a:ext cx="5374965" cy="4377549"/>
          </a:xfrm>
          <a:prstGeom prst="rect">
            <a:avLst/>
          </a:prstGeom>
          <a:noFill/>
          <a:ln>
            <a:noFill/>
          </a:ln>
        </p:spPr>
      </p:pic>
      <p:sp>
        <p:nvSpPr>
          <p:cNvPr id="200" name="Google Shape;200;p20"/>
          <p:cNvSpPr/>
          <p:nvPr/>
        </p:nvSpPr>
        <p:spPr>
          <a:xfrm>
            <a:off x="292600" y="4279401"/>
            <a:ext cx="603600" cy="402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DABF24"/>
      </a:accent1>
      <a:accent2>
        <a:srgbClr val="DABF24"/>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