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497934-6587-4C59-9BA6-73E68F42A836}">
  <a:tblStyle styleId="{45497934-6587-4C59-9BA6-73E68F42A836}"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video will show you how to add collaborators to your Terra Workspace.  Adding members allows them to see everything in your Workspace, and if you give them permission, they can also run analyses and edit the Workspace.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7989bd4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7989bd4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get started, log in Terra</a:t>
            </a:r>
            <a:r>
              <a:rPr lang="en">
                <a:solidFill>
                  <a:schemeClr val="dk1"/>
                </a:solidFill>
              </a:rPr>
              <a:t> using your Google ID.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7989bd49c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7989bd49c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
            </a:r>
            <a:r>
              <a:rPr lang="en"/>
              <a:t>lick the triple bar in the top left corner to access the drop-down menu, then click “Workspaces”.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17dd5f15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17dd5f15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 “My Workspaces”, find the Workspace you want to share.  In order to add people to a Workspace, you must be an owner of the Workspace.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17dd5f15db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17dd5f15db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on the name of the Workspace to open the Workspace. Opening a Workspace does not cost anything.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17dd5f15db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17dd5f15db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the circle with 3 dots on the right hand side to open the Workspace management menu. Click “Share”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17dd5f15db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17dd5f15db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Enter the email address of the user you want to share the Workspace with. This must be the address associated with the account they are using to access Terra.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17dd5f15db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17dd5f15db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Decide what role you want to give to the new member of your Workspace.  R</a:t>
            </a:r>
            <a:r>
              <a:rPr lang="en">
                <a:solidFill>
                  <a:schemeClr val="dk1"/>
                </a:solidFill>
              </a:rPr>
              <a:t>emember that all activity in the Workspace will be charged to the Workspaces’ Billing Project, regardless of who conducts it.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17dd5f15db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17dd5f15db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If you want them to be able to view your project but not spend your money, add them as a Reader.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17dd5f15db_0_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17dd5f15db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If you want them to be able to use the Workspace to run analyses, add them as a "Writer".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17dd5f15db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17dd5f15db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If they need to work on the analyses but are funded by a different funding source, you can add them as a Reader and they can clone their own copy of the Workspace where they can conduct activity on their own Billing Project.</a:t>
            </a:r>
            <a:r>
              <a:rPr lang="en">
                <a:solidFill>
                  <a:schemeClr val="dk1"/>
                </a:solidFill>
              </a:rPr>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17dd5f15db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17dd5f15db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Finally, if you want them to be able to add other members, add them as an Owner.  Exercise caution here; by adding someone as an owner, they have the ability to enable others to spend money in the Workspace.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17dd5f15db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17dd5f15db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 your desired role for the new member.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17dd5f15db_0_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17dd5f15db_0_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“Save”. This user should now be able to access the Workspace when logged in to Terra.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anvil.terra.bio/" TargetMode="External"/><Relationship Id="rId4" Type="http://schemas.openxmlformats.org/officeDocument/2006/relationships/hyperlink" Target="https://creativecommons.org/licenses/by/4.0/" TargetMode="External"/><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hyperlink" Target="https://creativecommons.org/licenses/by/4.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hyperlink" Target="https://creativecommons.org/licenses/by/4.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hyperlink" Target="https://creativecommons.org/licenses/by/4.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creativecommons.org/licenses/by/4.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hyperlink" Target="https://creativecommons.org/licenses/by/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Add Members to Workspace</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hlink"/>
                </a:solidFill>
                <a:hlinkClick r:id="rId3"/>
              </a:rPr>
              <a:t>https://anvil.terra.bio/ </a:t>
            </a:r>
            <a:r>
              <a:rPr lang="en"/>
              <a:t> homepage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0" name="Google Shape;160;p15"/>
          <p:cNvPicPr preferRelativeResize="0"/>
          <p:nvPr/>
        </p:nvPicPr>
        <p:blipFill>
          <a:blip r:embed="rId5">
            <a:alphaModFix/>
          </a:blip>
          <a:stretch>
            <a:fillRect/>
          </a:stretch>
        </p:blipFill>
        <p:spPr>
          <a:xfrm>
            <a:off x="152400" y="590700"/>
            <a:ext cx="8839204" cy="39621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navigate to workspaces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6" name="Google Shape;166;p16"/>
          <p:cNvPicPr preferRelativeResize="0"/>
          <p:nvPr/>
        </p:nvPicPr>
        <p:blipFill>
          <a:blip r:embed="rId5">
            <a:alphaModFix/>
          </a:blip>
          <a:stretch>
            <a:fillRect/>
          </a:stretch>
        </p:blipFill>
        <p:spPr>
          <a:xfrm>
            <a:off x="152400" y="1330900"/>
            <a:ext cx="8839204" cy="2481710"/>
          </a:xfrm>
          <a:prstGeom prst="rect">
            <a:avLst/>
          </a:prstGeom>
          <a:noFill/>
          <a:ln>
            <a:noFill/>
          </a:ln>
        </p:spPr>
      </p:pic>
      <p:sp>
        <p:nvSpPr>
          <p:cNvPr id="167" name="Google Shape;167;p16"/>
          <p:cNvSpPr/>
          <p:nvPr/>
        </p:nvSpPr>
        <p:spPr>
          <a:xfrm>
            <a:off x="156950" y="1401875"/>
            <a:ext cx="4659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233150" y="2359152"/>
            <a:ext cx="13869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select  workspace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74" name="Google Shape;174;p17"/>
          <p:cNvPicPr preferRelativeResize="0"/>
          <p:nvPr/>
        </p:nvPicPr>
        <p:blipFill>
          <a:blip r:embed="rId5">
            <a:alphaModFix/>
          </a:blip>
          <a:stretch>
            <a:fillRect/>
          </a:stretch>
        </p:blipFill>
        <p:spPr>
          <a:xfrm>
            <a:off x="152400" y="1378375"/>
            <a:ext cx="8839204" cy="2386758"/>
          </a:xfrm>
          <a:prstGeom prst="rect">
            <a:avLst/>
          </a:prstGeom>
          <a:noFill/>
          <a:ln>
            <a:noFill/>
          </a:ln>
        </p:spPr>
      </p:pic>
      <p:sp>
        <p:nvSpPr>
          <p:cNvPr id="175" name="Google Shape;175;p17"/>
          <p:cNvSpPr/>
          <p:nvPr/>
        </p:nvSpPr>
        <p:spPr>
          <a:xfrm>
            <a:off x="7075848" y="3259725"/>
            <a:ext cx="938400" cy="332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select  workspace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1" name="Google Shape;181;p18"/>
          <p:cNvPicPr preferRelativeResize="0"/>
          <p:nvPr/>
        </p:nvPicPr>
        <p:blipFill>
          <a:blip r:embed="rId5">
            <a:alphaModFix/>
          </a:blip>
          <a:stretch>
            <a:fillRect/>
          </a:stretch>
        </p:blipFill>
        <p:spPr>
          <a:xfrm>
            <a:off x="152400" y="1378375"/>
            <a:ext cx="8839204" cy="2386758"/>
          </a:xfrm>
          <a:prstGeom prst="rect">
            <a:avLst/>
          </a:prstGeom>
          <a:noFill/>
          <a:ln>
            <a:noFill/>
          </a:ln>
        </p:spPr>
      </p:pic>
      <p:sp>
        <p:nvSpPr>
          <p:cNvPr id="182" name="Google Shape;182;p18"/>
          <p:cNvSpPr/>
          <p:nvPr/>
        </p:nvSpPr>
        <p:spPr>
          <a:xfrm>
            <a:off x="310896" y="3233150"/>
            <a:ext cx="1810500" cy="332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9"/>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share  workspace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8" name="Google Shape;188;p19"/>
          <p:cNvPicPr preferRelativeResize="0"/>
          <p:nvPr/>
        </p:nvPicPr>
        <p:blipFill>
          <a:blip r:embed="rId5">
            <a:alphaModFix/>
          </a:blip>
          <a:stretch>
            <a:fillRect/>
          </a:stretch>
        </p:blipFill>
        <p:spPr>
          <a:xfrm>
            <a:off x="152400" y="1058988"/>
            <a:ext cx="8839204" cy="3025528"/>
          </a:xfrm>
          <a:prstGeom prst="rect">
            <a:avLst/>
          </a:prstGeom>
          <a:noFill/>
          <a:ln>
            <a:noFill/>
          </a:ln>
        </p:spPr>
      </p:pic>
      <p:sp>
        <p:nvSpPr>
          <p:cNvPr id="189" name="Google Shape;189;p19"/>
          <p:cNvSpPr/>
          <p:nvPr/>
        </p:nvSpPr>
        <p:spPr>
          <a:xfrm>
            <a:off x="7699248" y="2139696"/>
            <a:ext cx="567000" cy="2742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
          <p:cNvSpPr/>
          <p:nvPr/>
        </p:nvSpPr>
        <p:spPr>
          <a:xfrm>
            <a:off x="8469997" y="1554575"/>
            <a:ext cx="420600" cy="305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share  workspace dialog box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6" name="Google Shape;196;p20"/>
          <p:cNvPicPr preferRelativeResize="0"/>
          <p:nvPr/>
        </p:nvPicPr>
        <p:blipFill>
          <a:blip r:embed="rId5">
            <a:alphaModFix/>
          </a:blip>
          <a:stretch>
            <a:fillRect/>
          </a:stretch>
        </p:blipFill>
        <p:spPr>
          <a:xfrm>
            <a:off x="166375" y="382975"/>
            <a:ext cx="6732794" cy="4377549"/>
          </a:xfrm>
          <a:prstGeom prst="rect">
            <a:avLst/>
          </a:prstGeom>
          <a:noFill/>
          <a:ln>
            <a:noFill/>
          </a:ln>
        </p:spPr>
      </p:pic>
      <p:sp>
        <p:nvSpPr>
          <p:cNvPr id="197" name="Google Shape;197;p20"/>
          <p:cNvSpPr/>
          <p:nvPr/>
        </p:nvSpPr>
        <p:spPr>
          <a:xfrm>
            <a:off x="418425" y="1417320"/>
            <a:ext cx="3566100" cy="400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Table summarizing Terra Workspace permission levels by Katherine Cox.  </a:t>
            </a:r>
            <a:r>
              <a:rPr lang="en" u="sng">
                <a:solidFill>
                  <a:schemeClr val="accent5"/>
                </a:solidFill>
                <a:hlinkClick r:id="rId3">
                  <a:extLst>
                    <a:ext uri="{A12FA001-AC4F-418D-AE19-62706E023703}">
                      <ahyp:hlinkClr val="tx"/>
                    </a:ext>
                  </a:extLst>
                </a:hlinkClick>
              </a:rPr>
              <a:t>CC-BY-4.0</a:t>
            </a:r>
            <a:endParaRPr/>
          </a:p>
        </p:txBody>
      </p:sp>
      <p:graphicFrame>
        <p:nvGraphicFramePr>
          <p:cNvPr id="203" name="Google Shape;203;p21"/>
          <p:cNvGraphicFramePr/>
          <p:nvPr/>
        </p:nvGraphicFramePr>
        <p:xfrm>
          <a:off x="152400" y="152400"/>
          <a:ext cx="3000000" cy="3000000"/>
        </p:xfrm>
        <a:graphic>
          <a:graphicData uri="http://schemas.openxmlformats.org/drawingml/2006/table">
            <a:tbl>
              <a:tblPr>
                <a:noFill/>
                <a:tableStyleId>{45497934-6587-4C59-9BA6-73E68F42A836}</a:tableStyleId>
              </a:tblPr>
              <a:tblGrid>
                <a:gridCol w="1136425"/>
                <a:gridCol w="4819050"/>
                <a:gridCol w="1518050"/>
                <a:gridCol w="1518050"/>
              </a:tblGrid>
              <a:tr h="440650">
                <a:tc gridSpan="4">
                  <a:txBody>
                    <a:bodyPr/>
                    <a:lstStyle/>
                    <a:p>
                      <a:pPr indent="0" lvl="0" marL="0" rtl="0" algn="ctr">
                        <a:lnSpc>
                          <a:spcPct val="115000"/>
                        </a:lnSpc>
                        <a:spcBef>
                          <a:spcPts val="0"/>
                        </a:spcBef>
                        <a:spcAft>
                          <a:spcPts val="0"/>
                        </a:spcAft>
                        <a:buNone/>
                      </a:pPr>
                      <a:r>
                        <a:rPr b="1" lang="en" sz="1600"/>
                        <a:t>Workspace Access Levels</a:t>
                      </a:r>
                      <a:endParaRPr b="1" sz="1600"/>
                    </a:p>
                  </a:txBody>
                  <a:tcPr marT="63500" marB="63500" marR="63500" marL="63500"/>
                </a:tc>
                <a:tc hMerge="1"/>
                <a:tc hMerge="1"/>
                <a:tc hMerge="1"/>
              </a:tr>
              <a:tr h="652175">
                <a:tc>
                  <a:txBody>
                    <a:bodyPr/>
                    <a:lstStyle/>
                    <a:p>
                      <a:pPr indent="0" lvl="0" marL="0" rtl="0" algn="l">
                        <a:spcBef>
                          <a:spcPts val="0"/>
                        </a:spcBef>
                        <a:spcAft>
                          <a:spcPts val="0"/>
                        </a:spcAft>
                        <a:buNone/>
                      </a:pPr>
                      <a:r>
                        <a:rPr lang="en" sz="1600"/>
                        <a:t>Access Level</a:t>
                      </a:r>
                      <a:endParaRPr sz="1600"/>
                    </a:p>
                  </a:txBody>
                  <a:tcPr marT="63500" marB="63500" marR="63500" marL="63500"/>
                </a:tc>
                <a:tc>
                  <a:txBody>
                    <a:bodyPr/>
                    <a:lstStyle/>
                    <a:p>
                      <a:pPr indent="0" lvl="0" marL="0" rtl="0" algn="l">
                        <a:spcBef>
                          <a:spcPts val="0"/>
                        </a:spcBef>
                        <a:spcAft>
                          <a:spcPts val="0"/>
                        </a:spcAft>
                        <a:buNone/>
                      </a:pPr>
                      <a:r>
                        <a:rPr lang="en" sz="1600"/>
                        <a:t>Permissions</a:t>
                      </a:r>
                      <a:endParaRPr sz="1600"/>
                    </a:p>
                  </a:txBody>
                  <a:tcPr marT="63500" marB="63500" marR="63500" marL="63500"/>
                </a:tc>
                <a:tc>
                  <a:txBody>
                    <a:bodyPr/>
                    <a:lstStyle/>
                    <a:p>
                      <a:pPr indent="0" lvl="0" marL="0" rtl="0" algn="l">
                        <a:spcBef>
                          <a:spcPts val="0"/>
                        </a:spcBef>
                        <a:spcAft>
                          <a:spcPts val="0"/>
                        </a:spcAft>
                        <a:buNone/>
                      </a:pPr>
                      <a:r>
                        <a:rPr lang="en" sz="1600"/>
                        <a:t>Billable Activities</a:t>
                      </a:r>
                      <a:endParaRPr sz="1600"/>
                    </a:p>
                  </a:txBody>
                  <a:tcPr marT="63500" marB="63500" marR="63500" marL="63500"/>
                </a:tc>
                <a:tc>
                  <a:txBody>
                    <a:bodyPr/>
                    <a:lstStyle/>
                    <a:p>
                      <a:pPr indent="0" lvl="0" marL="0" rtl="0" algn="l">
                        <a:spcBef>
                          <a:spcPts val="0"/>
                        </a:spcBef>
                        <a:spcAft>
                          <a:spcPts val="0"/>
                        </a:spcAft>
                        <a:buNone/>
                      </a:pPr>
                      <a:r>
                        <a:rPr lang="en" sz="1600"/>
                        <a:t>Data Access</a:t>
                      </a:r>
                      <a:endParaRPr sz="1600"/>
                    </a:p>
                  </a:txBody>
                  <a:tcPr marT="63500" marB="63500" marR="63500" marL="63500"/>
                </a:tc>
              </a:tr>
              <a:tr h="969450">
                <a:tc>
                  <a:txBody>
                    <a:bodyPr/>
                    <a:lstStyle/>
                    <a:p>
                      <a:pPr indent="0" lvl="0" marL="0" rtl="0" algn="l">
                        <a:spcBef>
                          <a:spcPts val="0"/>
                        </a:spcBef>
                        <a:spcAft>
                          <a:spcPts val="0"/>
                        </a:spcAft>
                        <a:buNone/>
                      </a:pPr>
                      <a:r>
                        <a:rPr lang="en" sz="1600"/>
                        <a:t>Owners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p>
                      <a:pPr indent="-330200" lvl="0" marL="457200" rtl="0" algn="l">
                        <a:lnSpc>
                          <a:spcPct val="115000"/>
                        </a:lnSpc>
                        <a:spcBef>
                          <a:spcPts val="0"/>
                        </a:spcBef>
                        <a:spcAft>
                          <a:spcPts val="0"/>
                        </a:spcAft>
                        <a:buSzPts val="1600"/>
                        <a:buChar char="●"/>
                      </a:pPr>
                      <a:r>
                        <a:rPr b="1" lang="en" sz="1600"/>
                        <a:t>manage other user permissions</a:t>
                      </a:r>
                      <a:endParaRPr b="1"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705050">
                <a:tc>
                  <a:txBody>
                    <a:bodyPr/>
                    <a:lstStyle/>
                    <a:p>
                      <a:pPr indent="0" lvl="0" marL="0" rtl="0" algn="l">
                        <a:spcBef>
                          <a:spcPts val="0"/>
                        </a:spcBef>
                        <a:spcAft>
                          <a:spcPts val="0"/>
                        </a:spcAft>
                        <a:buNone/>
                      </a:pPr>
                      <a:r>
                        <a:rPr lang="en" sz="1600"/>
                        <a:t>Writers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1762625">
                <a:tc>
                  <a:txBody>
                    <a:bodyPr/>
                    <a:lstStyle/>
                    <a:p>
                      <a:pPr indent="0" lvl="0" marL="0" rtl="0" algn="l">
                        <a:spcBef>
                          <a:spcPts val="0"/>
                        </a:spcBef>
                        <a:spcAft>
                          <a:spcPts val="0"/>
                        </a:spcAft>
                        <a:buNone/>
                      </a:pPr>
                      <a:r>
                        <a:rPr lang="en" sz="1600"/>
                        <a:t>Readers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view data and workflows (can’t run or edit)</a:t>
                      </a:r>
                      <a:endParaRPr sz="1600"/>
                    </a:p>
                    <a:p>
                      <a:pPr indent="-330200" lvl="0" marL="457200" rtl="0" algn="l">
                        <a:lnSpc>
                          <a:spcPct val="115000"/>
                        </a:lnSpc>
                        <a:spcBef>
                          <a:spcPts val="0"/>
                        </a:spcBef>
                        <a:spcAft>
                          <a:spcPts val="0"/>
                        </a:spcAft>
                        <a:buSzPts val="1600"/>
                        <a:buChar char="●"/>
                      </a:pPr>
                      <a:r>
                        <a:rPr lang="en" sz="1600"/>
                        <a:t>copy contents into their own Workspace (if e.g. they wish to run the analysis in a Workspace associated with their own Billing Project)</a:t>
                      </a:r>
                      <a:endParaRPr sz="1600"/>
                    </a:p>
                  </a:txBody>
                  <a:tcPr marT="63500" marB="63500" marR="63500" marL="63500"/>
                </a:tc>
                <a:tc>
                  <a:txBody>
                    <a:bodyPr/>
                    <a:lstStyle/>
                    <a:p>
                      <a:pPr indent="0" lvl="0" marL="0" rtl="0" algn="l">
                        <a:spcBef>
                          <a:spcPts val="0"/>
                        </a:spcBef>
                        <a:spcAft>
                          <a:spcPts val="0"/>
                        </a:spcAft>
                        <a:buNone/>
                      </a:pPr>
                      <a:r>
                        <a:rPr lang="en" sz="1600"/>
                        <a:t>No*</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Table summarizing Terra Workspace permission levels by Katherine Cox.  </a:t>
            </a:r>
            <a:r>
              <a:rPr lang="en" u="sng">
                <a:solidFill>
                  <a:schemeClr val="accent5"/>
                </a:solidFill>
                <a:hlinkClick r:id="rId3">
                  <a:extLst>
                    <a:ext uri="{A12FA001-AC4F-418D-AE19-62706E023703}">
                      <ahyp:hlinkClr val="tx"/>
                    </a:ext>
                  </a:extLst>
                </a:hlinkClick>
              </a:rPr>
              <a:t>CC-BY-4.0</a:t>
            </a:r>
            <a:endParaRPr/>
          </a:p>
        </p:txBody>
      </p:sp>
      <p:graphicFrame>
        <p:nvGraphicFramePr>
          <p:cNvPr id="209" name="Google Shape;209;p22"/>
          <p:cNvGraphicFramePr/>
          <p:nvPr/>
        </p:nvGraphicFramePr>
        <p:xfrm>
          <a:off x="152400" y="152400"/>
          <a:ext cx="3000000" cy="3000000"/>
        </p:xfrm>
        <a:graphic>
          <a:graphicData uri="http://schemas.openxmlformats.org/drawingml/2006/table">
            <a:tbl>
              <a:tblPr>
                <a:noFill/>
                <a:tableStyleId>{45497934-6587-4C59-9BA6-73E68F42A836}</a:tableStyleId>
              </a:tblPr>
              <a:tblGrid>
                <a:gridCol w="1136425"/>
                <a:gridCol w="4819050"/>
                <a:gridCol w="1518050"/>
                <a:gridCol w="1518050"/>
              </a:tblGrid>
              <a:tr h="440650">
                <a:tc gridSpan="4">
                  <a:txBody>
                    <a:bodyPr/>
                    <a:lstStyle/>
                    <a:p>
                      <a:pPr indent="0" lvl="0" marL="0" rtl="0" algn="ctr">
                        <a:lnSpc>
                          <a:spcPct val="115000"/>
                        </a:lnSpc>
                        <a:spcBef>
                          <a:spcPts val="0"/>
                        </a:spcBef>
                        <a:spcAft>
                          <a:spcPts val="0"/>
                        </a:spcAft>
                        <a:buNone/>
                      </a:pPr>
                      <a:r>
                        <a:rPr b="1" lang="en" sz="1600"/>
                        <a:t>Workspace Access Levels</a:t>
                      </a:r>
                      <a:endParaRPr b="1" sz="1600"/>
                    </a:p>
                  </a:txBody>
                  <a:tcPr marT="63500" marB="63500" marR="63500" marL="63500"/>
                </a:tc>
                <a:tc hMerge="1"/>
                <a:tc hMerge="1"/>
                <a:tc hMerge="1"/>
              </a:tr>
              <a:tr h="652175">
                <a:tc>
                  <a:txBody>
                    <a:bodyPr/>
                    <a:lstStyle/>
                    <a:p>
                      <a:pPr indent="0" lvl="0" marL="0" rtl="0" algn="l">
                        <a:spcBef>
                          <a:spcPts val="0"/>
                        </a:spcBef>
                        <a:spcAft>
                          <a:spcPts val="0"/>
                        </a:spcAft>
                        <a:buNone/>
                      </a:pPr>
                      <a:r>
                        <a:rPr lang="en" sz="1600"/>
                        <a:t>Access Level</a:t>
                      </a:r>
                      <a:endParaRPr sz="1600"/>
                    </a:p>
                  </a:txBody>
                  <a:tcPr marT="63500" marB="63500" marR="63500" marL="63500"/>
                </a:tc>
                <a:tc>
                  <a:txBody>
                    <a:bodyPr/>
                    <a:lstStyle/>
                    <a:p>
                      <a:pPr indent="0" lvl="0" marL="0" rtl="0" algn="l">
                        <a:spcBef>
                          <a:spcPts val="0"/>
                        </a:spcBef>
                        <a:spcAft>
                          <a:spcPts val="0"/>
                        </a:spcAft>
                        <a:buNone/>
                      </a:pPr>
                      <a:r>
                        <a:rPr lang="en" sz="1600"/>
                        <a:t>Permissions</a:t>
                      </a:r>
                      <a:endParaRPr sz="1600"/>
                    </a:p>
                  </a:txBody>
                  <a:tcPr marT="63500" marB="63500" marR="63500" marL="63500"/>
                </a:tc>
                <a:tc>
                  <a:txBody>
                    <a:bodyPr/>
                    <a:lstStyle/>
                    <a:p>
                      <a:pPr indent="0" lvl="0" marL="0" rtl="0" algn="l">
                        <a:spcBef>
                          <a:spcPts val="0"/>
                        </a:spcBef>
                        <a:spcAft>
                          <a:spcPts val="0"/>
                        </a:spcAft>
                        <a:buNone/>
                      </a:pPr>
                      <a:r>
                        <a:rPr lang="en" sz="1600"/>
                        <a:t>Billable Activities</a:t>
                      </a:r>
                      <a:endParaRPr sz="1600"/>
                    </a:p>
                  </a:txBody>
                  <a:tcPr marT="63500" marB="63500" marR="63500" marL="63500"/>
                </a:tc>
                <a:tc>
                  <a:txBody>
                    <a:bodyPr/>
                    <a:lstStyle/>
                    <a:p>
                      <a:pPr indent="0" lvl="0" marL="0" rtl="0" algn="l">
                        <a:spcBef>
                          <a:spcPts val="0"/>
                        </a:spcBef>
                        <a:spcAft>
                          <a:spcPts val="0"/>
                        </a:spcAft>
                        <a:buNone/>
                      </a:pPr>
                      <a:r>
                        <a:rPr lang="en" sz="1600"/>
                        <a:t>Data Access</a:t>
                      </a:r>
                      <a:endParaRPr sz="1600"/>
                    </a:p>
                  </a:txBody>
                  <a:tcPr marT="63500" marB="63500" marR="63500" marL="63500"/>
                </a:tc>
              </a:tr>
              <a:tr h="969450">
                <a:tc>
                  <a:txBody>
                    <a:bodyPr/>
                    <a:lstStyle/>
                    <a:p>
                      <a:pPr indent="0" lvl="0" marL="0" rtl="0" algn="l">
                        <a:spcBef>
                          <a:spcPts val="0"/>
                        </a:spcBef>
                        <a:spcAft>
                          <a:spcPts val="0"/>
                        </a:spcAft>
                        <a:buNone/>
                      </a:pPr>
                      <a:r>
                        <a:rPr lang="en" sz="1600"/>
                        <a:t>Owners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p>
                      <a:pPr indent="-330200" lvl="0" marL="457200" rtl="0" algn="l">
                        <a:lnSpc>
                          <a:spcPct val="115000"/>
                        </a:lnSpc>
                        <a:spcBef>
                          <a:spcPts val="0"/>
                        </a:spcBef>
                        <a:spcAft>
                          <a:spcPts val="0"/>
                        </a:spcAft>
                        <a:buSzPts val="1600"/>
                        <a:buChar char="●"/>
                      </a:pPr>
                      <a:r>
                        <a:rPr b="1" lang="en" sz="1600"/>
                        <a:t>manage other user permissions</a:t>
                      </a:r>
                      <a:endParaRPr b="1"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705050">
                <a:tc>
                  <a:txBody>
                    <a:bodyPr/>
                    <a:lstStyle/>
                    <a:p>
                      <a:pPr indent="0" lvl="0" marL="0" rtl="0" algn="l">
                        <a:spcBef>
                          <a:spcPts val="0"/>
                        </a:spcBef>
                        <a:spcAft>
                          <a:spcPts val="0"/>
                        </a:spcAft>
                        <a:buNone/>
                      </a:pPr>
                      <a:r>
                        <a:rPr lang="en" sz="1600"/>
                        <a:t>Writers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1762625">
                <a:tc>
                  <a:txBody>
                    <a:bodyPr/>
                    <a:lstStyle/>
                    <a:p>
                      <a:pPr indent="0" lvl="0" marL="0" rtl="0" algn="l">
                        <a:spcBef>
                          <a:spcPts val="0"/>
                        </a:spcBef>
                        <a:spcAft>
                          <a:spcPts val="0"/>
                        </a:spcAft>
                        <a:buNone/>
                      </a:pPr>
                      <a:r>
                        <a:rPr lang="en" sz="1600"/>
                        <a:t>Readers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view data and workflows (can’t run or edit)</a:t>
                      </a:r>
                      <a:endParaRPr sz="1600"/>
                    </a:p>
                    <a:p>
                      <a:pPr indent="-330200" lvl="0" marL="457200" rtl="0" algn="l">
                        <a:lnSpc>
                          <a:spcPct val="115000"/>
                        </a:lnSpc>
                        <a:spcBef>
                          <a:spcPts val="0"/>
                        </a:spcBef>
                        <a:spcAft>
                          <a:spcPts val="0"/>
                        </a:spcAft>
                        <a:buSzPts val="1600"/>
                        <a:buChar char="●"/>
                      </a:pPr>
                      <a:r>
                        <a:rPr lang="en" sz="1600"/>
                        <a:t>copy contents into their own Workspace (if e.g. they wish to run the analysis in a Workspace associated with their own Billing Project)</a:t>
                      </a:r>
                      <a:endParaRPr sz="1600"/>
                    </a:p>
                  </a:txBody>
                  <a:tcPr marT="63500" marB="63500" marR="63500" marL="63500"/>
                </a:tc>
                <a:tc>
                  <a:txBody>
                    <a:bodyPr/>
                    <a:lstStyle/>
                    <a:p>
                      <a:pPr indent="0" lvl="0" marL="0" rtl="0" algn="l">
                        <a:spcBef>
                          <a:spcPts val="0"/>
                        </a:spcBef>
                        <a:spcAft>
                          <a:spcPts val="0"/>
                        </a:spcAft>
                        <a:buNone/>
                      </a:pPr>
                      <a:r>
                        <a:rPr lang="en" sz="1600"/>
                        <a:t>No*</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bl>
          </a:graphicData>
        </a:graphic>
      </p:graphicFrame>
      <p:sp>
        <p:nvSpPr>
          <p:cNvPr id="210" name="Google Shape;210;p22"/>
          <p:cNvSpPr/>
          <p:nvPr/>
        </p:nvSpPr>
        <p:spPr>
          <a:xfrm>
            <a:off x="152400" y="2919725"/>
            <a:ext cx="8991600" cy="1762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3"/>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Table summarizing Terra Workspace permission levels by Katherine Cox.  </a:t>
            </a:r>
            <a:r>
              <a:rPr lang="en" u="sng">
                <a:solidFill>
                  <a:schemeClr val="accent5"/>
                </a:solidFill>
                <a:hlinkClick r:id="rId3">
                  <a:extLst>
                    <a:ext uri="{A12FA001-AC4F-418D-AE19-62706E023703}">
                      <ahyp:hlinkClr val="tx"/>
                    </a:ext>
                  </a:extLst>
                </a:hlinkClick>
              </a:rPr>
              <a:t>CC-BY-4.0</a:t>
            </a:r>
            <a:endParaRPr/>
          </a:p>
        </p:txBody>
      </p:sp>
      <p:graphicFrame>
        <p:nvGraphicFramePr>
          <p:cNvPr id="216" name="Google Shape;216;p23"/>
          <p:cNvGraphicFramePr/>
          <p:nvPr/>
        </p:nvGraphicFramePr>
        <p:xfrm>
          <a:off x="152400" y="152400"/>
          <a:ext cx="3000000" cy="3000000"/>
        </p:xfrm>
        <a:graphic>
          <a:graphicData uri="http://schemas.openxmlformats.org/drawingml/2006/table">
            <a:tbl>
              <a:tblPr>
                <a:noFill/>
                <a:tableStyleId>{45497934-6587-4C59-9BA6-73E68F42A836}</a:tableStyleId>
              </a:tblPr>
              <a:tblGrid>
                <a:gridCol w="1136425"/>
                <a:gridCol w="4819050"/>
                <a:gridCol w="1518050"/>
                <a:gridCol w="1518050"/>
              </a:tblGrid>
              <a:tr h="440650">
                <a:tc gridSpan="4">
                  <a:txBody>
                    <a:bodyPr/>
                    <a:lstStyle/>
                    <a:p>
                      <a:pPr indent="0" lvl="0" marL="0" rtl="0" algn="ctr">
                        <a:lnSpc>
                          <a:spcPct val="115000"/>
                        </a:lnSpc>
                        <a:spcBef>
                          <a:spcPts val="0"/>
                        </a:spcBef>
                        <a:spcAft>
                          <a:spcPts val="0"/>
                        </a:spcAft>
                        <a:buNone/>
                      </a:pPr>
                      <a:r>
                        <a:rPr b="1" lang="en" sz="1600"/>
                        <a:t>Workspace Access Levels</a:t>
                      </a:r>
                      <a:endParaRPr b="1" sz="1600"/>
                    </a:p>
                  </a:txBody>
                  <a:tcPr marT="63500" marB="63500" marR="63500" marL="63500"/>
                </a:tc>
                <a:tc hMerge="1"/>
                <a:tc hMerge="1"/>
                <a:tc hMerge="1"/>
              </a:tr>
              <a:tr h="652175">
                <a:tc>
                  <a:txBody>
                    <a:bodyPr/>
                    <a:lstStyle/>
                    <a:p>
                      <a:pPr indent="0" lvl="0" marL="0" rtl="0" algn="l">
                        <a:spcBef>
                          <a:spcPts val="0"/>
                        </a:spcBef>
                        <a:spcAft>
                          <a:spcPts val="0"/>
                        </a:spcAft>
                        <a:buNone/>
                      </a:pPr>
                      <a:r>
                        <a:rPr lang="en" sz="1600"/>
                        <a:t>Access Level</a:t>
                      </a:r>
                      <a:endParaRPr sz="1600"/>
                    </a:p>
                  </a:txBody>
                  <a:tcPr marT="63500" marB="63500" marR="63500" marL="63500"/>
                </a:tc>
                <a:tc>
                  <a:txBody>
                    <a:bodyPr/>
                    <a:lstStyle/>
                    <a:p>
                      <a:pPr indent="0" lvl="0" marL="0" rtl="0" algn="l">
                        <a:spcBef>
                          <a:spcPts val="0"/>
                        </a:spcBef>
                        <a:spcAft>
                          <a:spcPts val="0"/>
                        </a:spcAft>
                        <a:buNone/>
                      </a:pPr>
                      <a:r>
                        <a:rPr lang="en" sz="1600"/>
                        <a:t>Permissions</a:t>
                      </a:r>
                      <a:endParaRPr sz="1600"/>
                    </a:p>
                  </a:txBody>
                  <a:tcPr marT="63500" marB="63500" marR="63500" marL="63500"/>
                </a:tc>
                <a:tc>
                  <a:txBody>
                    <a:bodyPr/>
                    <a:lstStyle/>
                    <a:p>
                      <a:pPr indent="0" lvl="0" marL="0" rtl="0" algn="l">
                        <a:spcBef>
                          <a:spcPts val="0"/>
                        </a:spcBef>
                        <a:spcAft>
                          <a:spcPts val="0"/>
                        </a:spcAft>
                        <a:buNone/>
                      </a:pPr>
                      <a:r>
                        <a:rPr lang="en" sz="1600"/>
                        <a:t>Billable Activities</a:t>
                      </a:r>
                      <a:endParaRPr sz="1600"/>
                    </a:p>
                  </a:txBody>
                  <a:tcPr marT="63500" marB="63500" marR="63500" marL="63500"/>
                </a:tc>
                <a:tc>
                  <a:txBody>
                    <a:bodyPr/>
                    <a:lstStyle/>
                    <a:p>
                      <a:pPr indent="0" lvl="0" marL="0" rtl="0" algn="l">
                        <a:spcBef>
                          <a:spcPts val="0"/>
                        </a:spcBef>
                        <a:spcAft>
                          <a:spcPts val="0"/>
                        </a:spcAft>
                        <a:buNone/>
                      </a:pPr>
                      <a:r>
                        <a:rPr lang="en" sz="1600"/>
                        <a:t>Data Access</a:t>
                      </a:r>
                      <a:endParaRPr sz="1600"/>
                    </a:p>
                  </a:txBody>
                  <a:tcPr marT="63500" marB="63500" marR="63500" marL="63500"/>
                </a:tc>
              </a:tr>
              <a:tr h="969450">
                <a:tc>
                  <a:txBody>
                    <a:bodyPr/>
                    <a:lstStyle/>
                    <a:p>
                      <a:pPr indent="0" lvl="0" marL="0" rtl="0" algn="l">
                        <a:spcBef>
                          <a:spcPts val="0"/>
                        </a:spcBef>
                        <a:spcAft>
                          <a:spcPts val="0"/>
                        </a:spcAft>
                        <a:buNone/>
                      </a:pPr>
                      <a:r>
                        <a:rPr lang="en" sz="1600"/>
                        <a:t>Owners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p>
                      <a:pPr indent="-330200" lvl="0" marL="457200" rtl="0" algn="l">
                        <a:lnSpc>
                          <a:spcPct val="115000"/>
                        </a:lnSpc>
                        <a:spcBef>
                          <a:spcPts val="0"/>
                        </a:spcBef>
                        <a:spcAft>
                          <a:spcPts val="0"/>
                        </a:spcAft>
                        <a:buSzPts val="1600"/>
                        <a:buChar char="●"/>
                      </a:pPr>
                      <a:r>
                        <a:rPr b="1" lang="en" sz="1600"/>
                        <a:t>manage other user permissions</a:t>
                      </a:r>
                      <a:endParaRPr b="1"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705050">
                <a:tc>
                  <a:txBody>
                    <a:bodyPr/>
                    <a:lstStyle/>
                    <a:p>
                      <a:pPr indent="0" lvl="0" marL="0" rtl="0" algn="l">
                        <a:spcBef>
                          <a:spcPts val="0"/>
                        </a:spcBef>
                        <a:spcAft>
                          <a:spcPts val="0"/>
                        </a:spcAft>
                        <a:buNone/>
                      </a:pPr>
                      <a:r>
                        <a:rPr lang="en" sz="1600"/>
                        <a:t>Writers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1762625">
                <a:tc>
                  <a:txBody>
                    <a:bodyPr/>
                    <a:lstStyle/>
                    <a:p>
                      <a:pPr indent="0" lvl="0" marL="0" rtl="0" algn="l">
                        <a:spcBef>
                          <a:spcPts val="0"/>
                        </a:spcBef>
                        <a:spcAft>
                          <a:spcPts val="0"/>
                        </a:spcAft>
                        <a:buNone/>
                      </a:pPr>
                      <a:r>
                        <a:rPr lang="en" sz="1600"/>
                        <a:t>Readers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view data and workflows (can’t run or edit)</a:t>
                      </a:r>
                      <a:endParaRPr sz="1600"/>
                    </a:p>
                    <a:p>
                      <a:pPr indent="-330200" lvl="0" marL="457200" rtl="0" algn="l">
                        <a:lnSpc>
                          <a:spcPct val="115000"/>
                        </a:lnSpc>
                        <a:spcBef>
                          <a:spcPts val="0"/>
                        </a:spcBef>
                        <a:spcAft>
                          <a:spcPts val="0"/>
                        </a:spcAft>
                        <a:buSzPts val="1600"/>
                        <a:buChar char="●"/>
                      </a:pPr>
                      <a:r>
                        <a:rPr lang="en" sz="1600"/>
                        <a:t>copy contents into their own Workspace (if e.g. they wish to run the analysis in a Workspace associated with their own Billing Project)</a:t>
                      </a:r>
                      <a:endParaRPr sz="1600"/>
                    </a:p>
                  </a:txBody>
                  <a:tcPr marT="63500" marB="63500" marR="63500" marL="63500"/>
                </a:tc>
                <a:tc>
                  <a:txBody>
                    <a:bodyPr/>
                    <a:lstStyle/>
                    <a:p>
                      <a:pPr indent="0" lvl="0" marL="0" rtl="0" algn="l">
                        <a:spcBef>
                          <a:spcPts val="0"/>
                        </a:spcBef>
                        <a:spcAft>
                          <a:spcPts val="0"/>
                        </a:spcAft>
                        <a:buNone/>
                      </a:pPr>
                      <a:r>
                        <a:rPr lang="en" sz="1600"/>
                        <a:t>No*</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bl>
          </a:graphicData>
        </a:graphic>
      </p:graphicFrame>
      <p:sp>
        <p:nvSpPr>
          <p:cNvPr id="217" name="Google Shape;217;p23"/>
          <p:cNvSpPr/>
          <p:nvPr/>
        </p:nvSpPr>
        <p:spPr>
          <a:xfrm>
            <a:off x="152400" y="2214675"/>
            <a:ext cx="8991600" cy="705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4"/>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Table summarizing Terra Workspace permission levels by Katherine Cox.  </a:t>
            </a:r>
            <a:r>
              <a:rPr lang="en" u="sng">
                <a:solidFill>
                  <a:schemeClr val="accent5"/>
                </a:solidFill>
                <a:hlinkClick r:id="rId3">
                  <a:extLst>
                    <a:ext uri="{A12FA001-AC4F-418D-AE19-62706E023703}">
                      <ahyp:hlinkClr val="tx"/>
                    </a:ext>
                  </a:extLst>
                </a:hlinkClick>
              </a:rPr>
              <a:t>CC-BY-4.0</a:t>
            </a:r>
            <a:endParaRPr/>
          </a:p>
        </p:txBody>
      </p:sp>
      <p:graphicFrame>
        <p:nvGraphicFramePr>
          <p:cNvPr id="223" name="Google Shape;223;p24"/>
          <p:cNvGraphicFramePr/>
          <p:nvPr/>
        </p:nvGraphicFramePr>
        <p:xfrm>
          <a:off x="152400" y="152400"/>
          <a:ext cx="3000000" cy="3000000"/>
        </p:xfrm>
        <a:graphic>
          <a:graphicData uri="http://schemas.openxmlformats.org/drawingml/2006/table">
            <a:tbl>
              <a:tblPr>
                <a:noFill/>
                <a:tableStyleId>{45497934-6587-4C59-9BA6-73E68F42A836}</a:tableStyleId>
              </a:tblPr>
              <a:tblGrid>
                <a:gridCol w="1136425"/>
                <a:gridCol w="4819050"/>
                <a:gridCol w="1518050"/>
                <a:gridCol w="1518050"/>
              </a:tblGrid>
              <a:tr h="440650">
                <a:tc gridSpan="4">
                  <a:txBody>
                    <a:bodyPr/>
                    <a:lstStyle/>
                    <a:p>
                      <a:pPr indent="0" lvl="0" marL="0" rtl="0" algn="ctr">
                        <a:lnSpc>
                          <a:spcPct val="115000"/>
                        </a:lnSpc>
                        <a:spcBef>
                          <a:spcPts val="0"/>
                        </a:spcBef>
                        <a:spcAft>
                          <a:spcPts val="0"/>
                        </a:spcAft>
                        <a:buNone/>
                      </a:pPr>
                      <a:r>
                        <a:rPr b="1" lang="en" sz="1600"/>
                        <a:t>Workspace Access Levels</a:t>
                      </a:r>
                      <a:endParaRPr b="1" sz="1600"/>
                    </a:p>
                  </a:txBody>
                  <a:tcPr marT="63500" marB="63500" marR="63500" marL="63500"/>
                </a:tc>
                <a:tc hMerge="1"/>
                <a:tc hMerge="1"/>
                <a:tc hMerge="1"/>
              </a:tr>
              <a:tr h="652175">
                <a:tc>
                  <a:txBody>
                    <a:bodyPr/>
                    <a:lstStyle/>
                    <a:p>
                      <a:pPr indent="0" lvl="0" marL="0" rtl="0" algn="l">
                        <a:spcBef>
                          <a:spcPts val="0"/>
                        </a:spcBef>
                        <a:spcAft>
                          <a:spcPts val="0"/>
                        </a:spcAft>
                        <a:buNone/>
                      </a:pPr>
                      <a:r>
                        <a:rPr lang="en" sz="1600"/>
                        <a:t>Access Level</a:t>
                      </a:r>
                      <a:endParaRPr sz="1600"/>
                    </a:p>
                  </a:txBody>
                  <a:tcPr marT="63500" marB="63500" marR="63500" marL="63500"/>
                </a:tc>
                <a:tc>
                  <a:txBody>
                    <a:bodyPr/>
                    <a:lstStyle/>
                    <a:p>
                      <a:pPr indent="0" lvl="0" marL="0" rtl="0" algn="l">
                        <a:spcBef>
                          <a:spcPts val="0"/>
                        </a:spcBef>
                        <a:spcAft>
                          <a:spcPts val="0"/>
                        </a:spcAft>
                        <a:buNone/>
                      </a:pPr>
                      <a:r>
                        <a:rPr lang="en" sz="1600"/>
                        <a:t>Permissions</a:t>
                      </a:r>
                      <a:endParaRPr sz="1600"/>
                    </a:p>
                  </a:txBody>
                  <a:tcPr marT="63500" marB="63500" marR="63500" marL="63500"/>
                </a:tc>
                <a:tc>
                  <a:txBody>
                    <a:bodyPr/>
                    <a:lstStyle/>
                    <a:p>
                      <a:pPr indent="0" lvl="0" marL="0" rtl="0" algn="l">
                        <a:spcBef>
                          <a:spcPts val="0"/>
                        </a:spcBef>
                        <a:spcAft>
                          <a:spcPts val="0"/>
                        </a:spcAft>
                        <a:buNone/>
                      </a:pPr>
                      <a:r>
                        <a:rPr lang="en" sz="1600"/>
                        <a:t>Billable Activities</a:t>
                      </a:r>
                      <a:endParaRPr sz="1600"/>
                    </a:p>
                  </a:txBody>
                  <a:tcPr marT="63500" marB="63500" marR="63500" marL="63500"/>
                </a:tc>
                <a:tc>
                  <a:txBody>
                    <a:bodyPr/>
                    <a:lstStyle/>
                    <a:p>
                      <a:pPr indent="0" lvl="0" marL="0" rtl="0" algn="l">
                        <a:spcBef>
                          <a:spcPts val="0"/>
                        </a:spcBef>
                        <a:spcAft>
                          <a:spcPts val="0"/>
                        </a:spcAft>
                        <a:buNone/>
                      </a:pPr>
                      <a:r>
                        <a:rPr lang="en" sz="1600"/>
                        <a:t>Data Access</a:t>
                      </a:r>
                      <a:endParaRPr sz="1600"/>
                    </a:p>
                  </a:txBody>
                  <a:tcPr marT="63500" marB="63500" marR="63500" marL="63500"/>
                </a:tc>
              </a:tr>
              <a:tr h="969450">
                <a:tc>
                  <a:txBody>
                    <a:bodyPr/>
                    <a:lstStyle/>
                    <a:p>
                      <a:pPr indent="0" lvl="0" marL="0" rtl="0" algn="l">
                        <a:spcBef>
                          <a:spcPts val="0"/>
                        </a:spcBef>
                        <a:spcAft>
                          <a:spcPts val="0"/>
                        </a:spcAft>
                        <a:buNone/>
                      </a:pPr>
                      <a:r>
                        <a:rPr lang="en" sz="1600"/>
                        <a:t>Owners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p>
                      <a:pPr indent="-330200" lvl="0" marL="457200" rtl="0" algn="l">
                        <a:lnSpc>
                          <a:spcPct val="115000"/>
                        </a:lnSpc>
                        <a:spcBef>
                          <a:spcPts val="0"/>
                        </a:spcBef>
                        <a:spcAft>
                          <a:spcPts val="0"/>
                        </a:spcAft>
                        <a:buSzPts val="1600"/>
                        <a:buChar char="●"/>
                      </a:pPr>
                      <a:r>
                        <a:rPr b="1" lang="en" sz="1600"/>
                        <a:t>manage other user permissions</a:t>
                      </a:r>
                      <a:endParaRPr b="1"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705050">
                <a:tc>
                  <a:txBody>
                    <a:bodyPr/>
                    <a:lstStyle/>
                    <a:p>
                      <a:pPr indent="0" lvl="0" marL="0" rtl="0" algn="l">
                        <a:spcBef>
                          <a:spcPts val="0"/>
                        </a:spcBef>
                        <a:spcAft>
                          <a:spcPts val="0"/>
                        </a:spcAft>
                        <a:buNone/>
                      </a:pPr>
                      <a:r>
                        <a:rPr lang="en" sz="1600"/>
                        <a:t>Writers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1762625">
                <a:tc>
                  <a:txBody>
                    <a:bodyPr/>
                    <a:lstStyle/>
                    <a:p>
                      <a:pPr indent="0" lvl="0" marL="0" rtl="0" algn="l">
                        <a:spcBef>
                          <a:spcPts val="0"/>
                        </a:spcBef>
                        <a:spcAft>
                          <a:spcPts val="0"/>
                        </a:spcAft>
                        <a:buNone/>
                      </a:pPr>
                      <a:r>
                        <a:rPr lang="en" sz="1600"/>
                        <a:t>Readers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view data and workflows (can’t run or edit)</a:t>
                      </a:r>
                      <a:endParaRPr sz="1600"/>
                    </a:p>
                    <a:p>
                      <a:pPr indent="-330200" lvl="0" marL="457200" rtl="0" algn="l">
                        <a:lnSpc>
                          <a:spcPct val="115000"/>
                        </a:lnSpc>
                        <a:spcBef>
                          <a:spcPts val="0"/>
                        </a:spcBef>
                        <a:spcAft>
                          <a:spcPts val="0"/>
                        </a:spcAft>
                        <a:buSzPts val="1600"/>
                        <a:buChar char="●"/>
                      </a:pPr>
                      <a:r>
                        <a:rPr lang="en" sz="1600"/>
                        <a:t>copy contents into their own Workspace (if e.g. they wish to run the analysis in a Workspace associated with their own Billing Project)</a:t>
                      </a:r>
                      <a:endParaRPr sz="1600"/>
                    </a:p>
                  </a:txBody>
                  <a:tcPr marT="63500" marB="63500" marR="63500" marL="63500"/>
                </a:tc>
                <a:tc>
                  <a:txBody>
                    <a:bodyPr/>
                    <a:lstStyle/>
                    <a:p>
                      <a:pPr indent="0" lvl="0" marL="0" rtl="0" algn="l">
                        <a:spcBef>
                          <a:spcPts val="0"/>
                        </a:spcBef>
                        <a:spcAft>
                          <a:spcPts val="0"/>
                        </a:spcAft>
                        <a:buNone/>
                      </a:pPr>
                      <a:r>
                        <a:rPr lang="en" sz="1600"/>
                        <a:t>No*</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bl>
          </a:graphicData>
        </a:graphic>
      </p:graphicFrame>
      <p:sp>
        <p:nvSpPr>
          <p:cNvPr id="224" name="Google Shape;224;p24"/>
          <p:cNvSpPr/>
          <p:nvPr/>
        </p:nvSpPr>
        <p:spPr>
          <a:xfrm>
            <a:off x="1408825" y="3256225"/>
            <a:ext cx="4638600" cy="943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Table summarizing Terra Workspace permission levels by Katherine Cox.  </a:t>
            </a:r>
            <a:r>
              <a:rPr lang="en" u="sng">
                <a:solidFill>
                  <a:schemeClr val="accent5"/>
                </a:solidFill>
                <a:hlinkClick r:id="rId3">
                  <a:extLst>
                    <a:ext uri="{A12FA001-AC4F-418D-AE19-62706E023703}">
                      <ahyp:hlinkClr val="tx"/>
                    </a:ext>
                  </a:extLst>
                </a:hlinkClick>
              </a:rPr>
              <a:t>CC-BY-4.0</a:t>
            </a:r>
            <a:endParaRPr/>
          </a:p>
        </p:txBody>
      </p:sp>
      <p:graphicFrame>
        <p:nvGraphicFramePr>
          <p:cNvPr id="230" name="Google Shape;230;p25"/>
          <p:cNvGraphicFramePr/>
          <p:nvPr/>
        </p:nvGraphicFramePr>
        <p:xfrm>
          <a:off x="152400" y="152400"/>
          <a:ext cx="3000000" cy="3000000"/>
        </p:xfrm>
        <a:graphic>
          <a:graphicData uri="http://schemas.openxmlformats.org/drawingml/2006/table">
            <a:tbl>
              <a:tblPr>
                <a:noFill/>
                <a:tableStyleId>{45497934-6587-4C59-9BA6-73E68F42A836}</a:tableStyleId>
              </a:tblPr>
              <a:tblGrid>
                <a:gridCol w="1136425"/>
                <a:gridCol w="4819050"/>
                <a:gridCol w="1518050"/>
                <a:gridCol w="1518050"/>
              </a:tblGrid>
              <a:tr h="440650">
                <a:tc gridSpan="4">
                  <a:txBody>
                    <a:bodyPr/>
                    <a:lstStyle/>
                    <a:p>
                      <a:pPr indent="0" lvl="0" marL="0" rtl="0" algn="ctr">
                        <a:lnSpc>
                          <a:spcPct val="115000"/>
                        </a:lnSpc>
                        <a:spcBef>
                          <a:spcPts val="0"/>
                        </a:spcBef>
                        <a:spcAft>
                          <a:spcPts val="0"/>
                        </a:spcAft>
                        <a:buNone/>
                      </a:pPr>
                      <a:r>
                        <a:rPr b="1" lang="en" sz="1600"/>
                        <a:t>Workspace Access Levels</a:t>
                      </a:r>
                      <a:endParaRPr b="1" sz="1600"/>
                    </a:p>
                  </a:txBody>
                  <a:tcPr marT="63500" marB="63500" marR="63500" marL="63500"/>
                </a:tc>
                <a:tc hMerge="1"/>
                <a:tc hMerge="1"/>
                <a:tc hMerge="1"/>
              </a:tr>
              <a:tr h="652175">
                <a:tc>
                  <a:txBody>
                    <a:bodyPr/>
                    <a:lstStyle/>
                    <a:p>
                      <a:pPr indent="0" lvl="0" marL="0" rtl="0" algn="l">
                        <a:spcBef>
                          <a:spcPts val="0"/>
                        </a:spcBef>
                        <a:spcAft>
                          <a:spcPts val="0"/>
                        </a:spcAft>
                        <a:buNone/>
                      </a:pPr>
                      <a:r>
                        <a:rPr lang="en" sz="1600"/>
                        <a:t>Access Level</a:t>
                      </a:r>
                      <a:endParaRPr sz="1600"/>
                    </a:p>
                  </a:txBody>
                  <a:tcPr marT="63500" marB="63500" marR="63500" marL="63500"/>
                </a:tc>
                <a:tc>
                  <a:txBody>
                    <a:bodyPr/>
                    <a:lstStyle/>
                    <a:p>
                      <a:pPr indent="0" lvl="0" marL="0" rtl="0" algn="l">
                        <a:spcBef>
                          <a:spcPts val="0"/>
                        </a:spcBef>
                        <a:spcAft>
                          <a:spcPts val="0"/>
                        </a:spcAft>
                        <a:buNone/>
                      </a:pPr>
                      <a:r>
                        <a:rPr lang="en" sz="1600"/>
                        <a:t>Permissions</a:t>
                      </a:r>
                      <a:endParaRPr sz="1600"/>
                    </a:p>
                  </a:txBody>
                  <a:tcPr marT="63500" marB="63500" marR="63500" marL="63500"/>
                </a:tc>
                <a:tc>
                  <a:txBody>
                    <a:bodyPr/>
                    <a:lstStyle/>
                    <a:p>
                      <a:pPr indent="0" lvl="0" marL="0" rtl="0" algn="l">
                        <a:spcBef>
                          <a:spcPts val="0"/>
                        </a:spcBef>
                        <a:spcAft>
                          <a:spcPts val="0"/>
                        </a:spcAft>
                        <a:buNone/>
                      </a:pPr>
                      <a:r>
                        <a:rPr lang="en" sz="1600"/>
                        <a:t>Billable Activities</a:t>
                      </a:r>
                      <a:endParaRPr sz="1600"/>
                    </a:p>
                  </a:txBody>
                  <a:tcPr marT="63500" marB="63500" marR="63500" marL="63500"/>
                </a:tc>
                <a:tc>
                  <a:txBody>
                    <a:bodyPr/>
                    <a:lstStyle/>
                    <a:p>
                      <a:pPr indent="0" lvl="0" marL="0" rtl="0" algn="l">
                        <a:spcBef>
                          <a:spcPts val="0"/>
                        </a:spcBef>
                        <a:spcAft>
                          <a:spcPts val="0"/>
                        </a:spcAft>
                        <a:buNone/>
                      </a:pPr>
                      <a:r>
                        <a:rPr lang="en" sz="1600"/>
                        <a:t>Data Access</a:t>
                      </a:r>
                      <a:endParaRPr sz="1600"/>
                    </a:p>
                  </a:txBody>
                  <a:tcPr marT="63500" marB="63500" marR="63500" marL="63500"/>
                </a:tc>
              </a:tr>
              <a:tr h="969450">
                <a:tc>
                  <a:txBody>
                    <a:bodyPr/>
                    <a:lstStyle/>
                    <a:p>
                      <a:pPr indent="0" lvl="0" marL="0" rtl="0" algn="l">
                        <a:spcBef>
                          <a:spcPts val="0"/>
                        </a:spcBef>
                        <a:spcAft>
                          <a:spcPts val="0"/>
                        </a:spcAft>
                        <a:buNone/>
                      </a:pPr>
                      <a:r>
                        <a:rPr lang="en" sz="1600"/>
                        <a:t>Owners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p>
                      <a:pPr indent="-330200" lvl="0" marL="457200" rtl="0" algn="l">
                        <a:lnSpc>
                          <a:spcPct val="115000"/>
                        </a:lnSpc>
                        <a:spcBef>
                          <a:spcPts val="0"/>
                        </a:spcBef>
                        <a:spcAft>
                          <a:spcPts val="0"/>
                        </a:spcAft>
                        <a:buSzPts val="1600"/>
                        <a:buChar char="●"/>
                      </a:pPr>
                      <a:r>
                        <a:rPr b="1" lang="en" sz="1600"/>
                        <a:t>manage other user permissions</a:t>
                      </a:r>
                      <a:endParaRPr b="1"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705050">
                <a:tc>
                  <a:txBody>
                    <a:bodyPr/>
                    <a:lstStyle/>
                    <a:p>
                      <a:pPr indent="0" lvl="0" marL="0" rtl="0" algn="l">
                        <a:spcBef>
                          <a:spcPts val="0"/>
                        </a:spcBef>
                        <a:spcAft>
                          <a:spcPts val="0"/>
                        </a:spcAft>
                        <a:buNone/>
                      </a:pPr>
                      <a:r>
                        <a:rPr lang="en" sz="1600"/>
                        <a:t>Writers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1762625">
                <a:tc>
                  <a:txBody>
                    <a:bodyPr/>
                    <a:lstStyle/>
                    <a:p>
                      <a:pPr indent="0" lvl="0" marL="0" rtl="0" algn="l">
                        <a:spcBef>
                          <a:spcPts val="0"/>
                        </a:spcBef>
                        <a:spcAft>
                          <a:spcPts val="0"/>
                        </a:spcAft>
                        <a:buNone/>
                      </a:pPr>
                      <a:r>
                        <a:rPr lang="en" sz="1600"/>
                        <a:t>Readers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view data and workflows (can’t run or edit)</a:t>
                      </a:r>
                      <a:endParaRPr sz="1600"/>
                    </a:p>
                    <a:p>
                      <a:pPr indent="-330200" lvl="0" marL="457200" rtl="0" algn="l">
                        <a:lnSpc>
                          <a:spcPct val="115000"/>
                        </a:lnSpc>
                        <a:spcBef>
                          <a:spcPts val="0"/>
                        </a:spcBef>
                        <a:spcAft>
                          <a:spcPts val="0"/>
                        </a:spcAft>
                        <a:buSzPts val="1600"/>
                        <a:buChar char="●"/>
                      </a:pPr>
                      <a:r>
                        <a:rPr lang="en" sz="1600"/>
                        <a:t>copy contents into their own Workspace (if e.g. they wish to run the analysis in a Workspace associated with their own Billing Project)</a:t>
                      </a:r>
                      <a:endParaRPr sz="1600"/>
                    </a:p>
                  </a:txBody>
                  <a:tcPr marT="63500" marB="63500" marR="63500" marL="63500"/>
                </a:tc>
                <a:tc>
                  <a:txBody>
                    <a:bodyPr/>
                    <a:lstStyle/>
                    <a:p>
                      <a:pPr indent="0" lvl="0" marL="0" rtl="0" algn="l">
                        <a:spcBef>
                          <a:spcPts val="0"/>
                        </a:spcBef>
                        <a:spcAft>
                          <a:spcPts val="0"/>
                        </a:spcAft>
                        <a:buNone/>
                      </a:pPr>
                      <a:r>
                        <a:rPr lang="en" sz="1600"/>
                        <a:t>No*</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bl>
          </a:graphicData>
        </a:graphic>
      </p:graphicFrame>
      <p:sp>
        <p:nvSpPr>
          <p:cNvPr id="231" name="Google Shape;231;p25"/>
          <p:cNvSpPr/>
          <p:nvPr/>
        </p:nvSpPr>
        <p:spPr>
          <a:xfrm>
            <a:off x="152400" y="1245225"/>
            <a:ext cx="8991600" cy="9693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set workspace permissions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37" name="Google Shape;237;p26"/>
          <p:cNvPicPr preferRelativeResize="0"/>
          <p:nvPr/>
        </p:nvPicPr>
        <p:blipFill>
          <a:blip r:embed="rId5">
            <a:alphaModFix/>
          </a:blip>
          <a:stretch>
            <a:fillRect/>
          </a:stretch>
        </p:blipFill>
        <p:spPr>
          <a:xfrm>
            <a:off x="152400" y="382975"/>
            <a:ext cx="5397658" cy="4377550"/>
          </a:xfrm>
          <a:prstGeom prst="rect">
            <a:avLst/>
          </a:prstGeom>
          <a:noFill/>
          <a:ln>
            <a:noFill/>
          </a:ln>
        </p:spPr>
      </p:pic>
      <p:sp>
        <p:nvSpPr>
          <p:cNvPr id="238" name="Google Shape;238;p26"/>
          <p:cNvSpPr/>
          <p:nvPr/>
        </p:nvSpPr>
        <p:spPr>
          <a:xfrm>
            <a:off x="478475" y="3290225"/>
            <a:ext cx="1981500" cy="400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7"/>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save  workspace permissions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44" name="Google Shape;244;p27"/>
          <p:cNvPicPr preferRelativeResize="0"/>
          <p:nvPr/>
        </p:nvPicPr>
        <p:blipFill>
          <a:blip r:embed="rId5">
            <a:alphaModFix/>
          </a:blip>
          <a:stretch>
            <a:fillRect/>
          </a:stretch>
        </p:blipFill>
        <p:spPr>
          <a:xfrm>
            <a:off x="152400" y="382975"/>
            <a:ext cx="5397658" cy="4377550"/>
          </a:xfrm>
          <a:prstGeom prst="rect">
            <a:avLst/>
          </a:prstGeom>
          <a:noFill/>
          <a:ln>
            <a:noFill/>
          </a:ln>
        </p:spPr>
      </p:pic>
      <p:sp>
        <p:nvSpPr>
          <p:cNvPr id="245" name="Google Shape;245;p27"/>
          <p:cNvSpPr/>
          <p:nvPr/>
        </p:nvSpPr>
        <p:spPr>
          <a:xfrm>
            <a:off x="4709325" y="4170775"/>
            <a:ext cx="671700" cy="400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