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will show you how to add members to a Terra Billing Project.  Adding someone to a Billing Project</a:t>
            </a:r>
            <a:r>
              <a:rPr lang="en"/>
              <a:t> allows them to use the Billing Project to fund their work on AnVIL</a:t>
            </a:r>
            <a:r>
              <a:rPr lang="en"/>
              <a:t>.  </a:t>
            </a:r>
            <a:r>
              <a:rPr lang="en">
                <a:solidFill>
                  <a:schemeClr val="dk1"/>
                </a:solidFill>
              </a:rPr>
              <a:t>Note that you must be an “Owner” of the Billing Project before you can add someone to it.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f1264c74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cf1264c74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Except where otherwise indicated, this content is available for use under CC B Y 4.0.</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15e284bd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15e284bd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get started, log in to Terra.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16f8d759be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16f8d759be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Click the triple bar in the top left corner to access the drop-down menu. Click the arrow next to your name to expand the menu, then click “Billing”.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16f8d759b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16f8d759b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the Billing page, click “Owned by You” and find the Billing Project.  If you do not see the Billing Project in this list, then you are not an Owner and do not have permission to add members.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edc2edcaf8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edc2edcaf8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on the name of the Billing Project.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edc2edcaf8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edc2edcaf8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on the “Members” tab to view and manage members.  Then click the “Add User” button.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edc2edcaf8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edc2edcaf8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Enter the email address of the user you’d like to add the the Billing Project.  </a:t>
            </a:r>
            <a:r>
              <a:rPr lang="en">
                <a:solidFill>
                  <a:schemeClr val="dk1"/>
                </a:solidFill>
              </a:rPr>
              <a:t>Make sure this is the account that they use to access AnVIL.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edc2edcaf8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edc2edcaf8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If this user will need to add and remove other users of the Billing Project, check the Owner box.  Otherwise leave it unchecked.  It’s often a good idea to have at least one other Owner of a Billing Project in order to avoid getting locked out, in case the original owner leaves or loses access to their account.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edc2edcaf8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edc2edcaf8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Click “ADD USER”.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edc2edcaf8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edc2edcaf8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They should now show up in the list of Billing Project members, along with the appropriate role.  They can now use the Billing Project to fund work on AnVIL.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edc2edcaf8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edc2edcaf8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If you need to remove members or modify their roles, you can do so at any time by clicking the teardrop button next to their name.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edc2edcaf8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edc2edcaf8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that you can</a:t>
            </a:r>
            <a:r>
              <a:rPr lang="en"/>
              <a:t> also</a:t>
            </a:r>
            <a:r>
              <a:rPr lang="en"/>
              <a:t> add Terra Groups to a Billing Project.  Adding a Terra Group will</a:t>
            </a:r>
            <a:r>
              <a:rPr lang="en"/>
              <a:t> add all</a:t>
            </a:r>
            <a:r>
              <a:rPr lang="en"/>
              <a:t> Group members with whatever role you grant the Group.  To add a Terra Group, enter the Group email address as the user email.  You can find the Group email address on the Terra Group management page.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edc2edcaf8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edc2edcaf8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to everyone who contributed!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a:blip r:embed="rId2">
            <a:alphaModFix/>
          </a:blip>
          <a:stretch>
            <a:fillRect/>
          </a:stretch>
        </p:blipFill>
        <p:spPr>
          <a:xfrm>
            <a:off x="6052847" y="4331125"/>
            <a:ext cx="810900" cy="713825"/>
          </a:xfrm>
          <a:prstGeom prst="rect">
            <a:avLst/>
          </a:prstGeom>
          <a:noFill/>
          <a:ln>
            <a:noFill/>
          </a:ln>
        </p:spPr>
      </p:pic>
      <p:pic>
        <p:nvPicPr>
          <p:cNvPr id="20" name="Google Shape;20;p2"/>
          <p:cNvPicPr preferRelativeResize="0"/>
          <p:nvPr/>
        </p:nvPicPr>
        <p:blipFill rotWithShape="1">
          <a:blip r:embed="rId3">
            <a:alphaModFix/>
          </a:blip>
          <a:srcRect b="0" l="17840" r="20320" t="0"/>
          <a:stretch/>
        </p:blipFill>
        <p:spPr>
          <a:xfrm>
            <a:off x="6969175" y="4319250"/>
            <a:ext cx="810900" cy="737575"/>
          </a:xfrm>
          <a:prstGeom prst="rect">
            <a:avLst/>
          </a:prstGeom>
          <a:noFill/>
          <a:ln>
            <a:noFill/>
          </a:ln>
        </p:spPr>
      </p:pic>
      <p:pic>
        <p:nvPicPr>
          <p:cNvPr id="21" name="Google Shape;21;p2"/>
          <p:cNvPicPr preferRelativeResize="0"/>
          <p:nvPr/>
        </p:nvPicPr>
        <p:blipFill>
          <a:blip r:embed="rId4">
            <a:alphaModFix/>
          </a:blip>
          <a:stretch>
            <a:fillRect/>
          </a:stretch>
        </p:blipFill>
        <p:spPr>
          <a:xfrm>
            <a:off x="7790688" y="4466350"/>
            <a:ext cx="1277302" cy="3729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4406400" y="0"/>
            <a:ext cx="4737600" cy="5143065"/>
            <a:chOff x="4406400" y="0"/>
            <a:chExt cx="4737600" cy="5143065"/>
          </a:xfrm>
        </p:grpSpPr>
        <p:sp>
          <p:nvSpPr>
            <p:cNvPr id="24" name="Google Shape;24;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 name="Google Shape;42;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 name="Google Shape;4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3"/>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 name="Shape 45"/>
        <p:cNvGrpSpPr/>
        <p:nvPr/>
      </p:nvGrpSpPr>
      <p:grpSpPr>
        <a:xfrm>
          <a:off x="0" y="0"/>
          <a:ext cx="0" cy="0"/>
          <a:chOff x="0" y="0"/>
          <a:chExt cx="0" cy="0"/>
        </a:xfrm>
      </p:grpSpPr>
      <p:grpSp>
        <p:nvGrpSpPr>
          <p:cNvPr id="46" name="Google Shape;46;p4"/>
          <p:cNvGrpSpPr/>
          <p:nvPr/>
        </p:nvGrpSpPr>
        <p:grpSpPr>
          <a:xfrm>
            <a:off x="0" y="381001"/>
            <a:ext cx="1037850" cy="1016287"/>
            <a:chOff x="0" y="381001"/>
            <a:chExt cx="1037850" cy="1016287"/>
          </a:xfrm>
        </p:grpSpPr>
        <p:sp>
          <p:nvSpPr>
            <p:cNvPr id="47" name="Google Shape;47;p4"/>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p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50" name="Google Shape;5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51" name="Google Shape;5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4"/>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 name="Shape 53"/>
        <p:cNvGrpSpPr/>
        <p:nvPr/>
      </p:nvGrpSpPr>
      <p:grpSpPr>
        <a:xfrm>
          <a:off x="0" y="0"/>
          <a:ext cx="0" cy="0"/>
          <a:chOff x="0" y="0"/>
          <a:chExt cx="0" cy="0"/>
        </a:xfrm>
      </p:grpSpPr>
      <p:grpSp>
        <p:nvGrpSpPr>
          <p:cNvPr id="54" name="Google Shape;54;p5"/>
          <p:cNvGrpSpPr/>
          <p:nvPr/>
        </p:nvGrpSpPr>
        <p:grpSpPr>
          <a:xfrm>
            <a:off x="0" y="381001"/>
            <a:ext cx="1037850" cy="1016287"/>
            <a:chOff x="0" y="381001"/>
            <a:chExt cx="1037850" cy="1016287"/>
          </a:xfrm>
        </p:grpSpPr>
        <p:sp>
          <p:nvSpPr>
            <p:cNvPr id="55" name="Google Shape;55;p5"/>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8" name="Google Shape;5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5"/>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rgbClr val="7890CD"/>
                </a:solidFill>
                <a:latin typeface="Lato"/>
                <a:ea typeface="Lato"/>
                <a:cs typeface="Lato"/>
                <a:sym typeface="Lato"/>
                <a:hlinkClick r:id="rId2">
                  <a:extLst>
                    <a:ext uri="{A12FA001-AC4F-418D-AE19-62706E023703}">
                      <ahyp:hlinkClr val="tx"/>
                    </a:ext>
                  </a:extLst>
                </a:hlinkClick>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Johns Hopkins Data Science Lab. </a:t>
            </a:r>
            <a:r>
              <a:rPr lang="en" u="sng">
                <a:solidFill>
                  <a:srgbClr val="7890CD"/>
                </a:solidFill>
                <a:latin typeface="Lato"/>
                <a:ea typeface="Lato"/>
                <a:cs typeface="Lato"/>
                <a:sym typeface="Lato"/>
                <a:hlinkClick r:id="rId3">
                  <a:extLst>
                    <a:ext uri="{A12FA001-AC4F-418D-AE19-62706E023703}">
                      <ahyp:hlinkClr val="tx"/>
                    </a:ext>
                  </a:extLst>
                </a:hlinkClick>
              </a:rPr>
              <a:t>CC-BY 4.0</a:t>
            </a:r>
            <a:endParaRPr>
              <a:latin typeface="Lato"/>
              <a:ea typeface="Lato"/>
              <a:cs typeface="Lato"/>
              <a:sym typeface="Lato"/>
            </a:endParaRPr>
          </a:p>
        </p:txBody>
      </p:sp>
      <p:pic>
        <p:nvPicPr>
          <p:cNvPr id="60" name="Google Shape;60;p5"/>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61" name="Google Shape;61;p5"/>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grpSp>
        <p:nvGrpSpPr>
          <p:cNvPr id="63" name="Google Shape;63;p6"/>
          <p:cNvGrpSpPr/>
          <p:nvPr/>
        </p:nvGrpSpPr>
        <p:grpSpPr>
          <a:xfrm>
            <a:off x="0" y="381001"/>
            <a:ext cx="1037850" cy="1016287"/>
            <a:chOff x="0" y="381001"/>
            <a:chExt cx="1037850" cy="1016287"/>
          </a:xfrm>
        </p:grpSpPr>
        <p:sp>
          <p:nvSpPr>
            <p:cNvPr id="64" name="Google Shape;64;p6"/>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6"/>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67" name="Google Shape;6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6"/>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 name="Shape 69"/>
        <p:cNvGrpSpPr/>
        <p:nvPr/>
      </p:nvGrpSpPr>
      <p:grpSpPr>
        <a:xfrm>
          <a:off x="0" y="0"/>
          <a:ext cx="0" cy="0"/>
          <a:chOff x="0" y="0"/>
          <a:chExt cx="0" cy="0"/>
        </a:xfrm>
      </p:grpSpPr>
      <p:grpSp>
        <p:nvGrpSpPr>
          <p:cNvPr id="70" name="Google Shape;70;p7"/>
          <p:cNvGrpSpPr/>
          <p:nvPr/>
        </p:nvGrpSpPr>
        <p:grpSpPr>
          <a:xfrm>
            <a:off x="0" y="381001"/>
            <a:ext cx="1037850" cy="1016287"/>
            <a:chOff x="0" y="381001"/>
            <a:chExt cx="1037850" cy="1016287"/>
          </a:xfrm>
        </p:grpSpPr>
        <p:sp>
          <p:nvSpPr>
            <p:cNvPr id="71" name="Google Shape;71;p7"/>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4" name="Google Shape;74;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7"/>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grpSp>
        <p:nvGrpSpPr>
          <p:cNvPr id="78" name="Google Shape;78;p8"/>
          <p:cNvGrpSpPr/>
          <p:nvPr/>
        </p:nvGrpSpPr>
        <p:grpSpPr>
          <a:xfrm>
            <a:off x="4406400" y="0"/>
            <a:ext cx="4737600" cy="5143500"/>
            <a:chOff x="4406400" y="0"/>
            <a:chExt cx="4737600" cy="5143500"/>
          </a:xfrm>
        </p:grpSpPr>
        <p:sp>
          <p:nvSpPr>
            <p:cNvPr id="79" name="Google Shape;79;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6908099" y="2069680"/>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rot="-5400000">
              <a:off x="7227414" y="3711189"/>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8" name="Google Shape;9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8"/>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0" name="Shape 100"/>
        <p:cNvGrpSpPr/>
        <p:nvPr/>
      </p:nvGrpSpPr>
      <p:grpSpPr>
        <a:xfrm>
          <a:off x="0" y="0"/>
          <a:ext cx="0" cy="0"/>
          <a:chOff x="0" y="0"/>
          <a:chExt cx="0" cy="0"/>
        </a:xfrm>
      </p:grpSpPr>
      <p:grpSp>
        <p:nvGrpSpPr>
          <p:cNvPr id="101" name="Google Shape;101;p9"/>
          <p:cNvGrpSpPr/>
          <p:nvPr/>
        </p:nvGrpSpPr>
        <p:grpSpPr>
          <a:xfrm>
            <a:off x="0" y="381001"/>
            <a:ext cx="1037850" cy="1016287"/>
            <a:chOff x="0" y="381001"/>
            <a:chExt cx="1037850" cy="1016287"/>
          </a:xfrm>
        </p:grpSpPr>
        <p:sp>
          <p:nvSpPr>
            <p:cNvPr id="102" name="Google Shape;102;p9"/>
            <p:cNvSpPr/>
            <p:nvPr/>
          </p:nvSpPr>
          <p:spPr>
            <a:xfrm rot="-5400000">
              <a:off x="0" y="381001"/>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flipH="1">
              <a:off x="229050" y="588489"/>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5" name="Google Shape;105;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06" name="Google Shape;106;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107" name="Google Shape;10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9"/>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9" name="Shape 109"/>
        <p:cNvGrpSpPr/>
        <p:nvPr/>
      </p:nvGrpSpPr>
      <p:grpSpPr>
        <a:xfrm>
          <a:off x="0" y="0"/>
          <a:ext cx="0" cy="0"/>
          <a:chOff x="0" y="0"/>
          <a:chExt cx="0" cy="0"/>
        </a:xfrm>
      </p:grpSpPr>
      <p:grpSp>
        <p:nvGrpSpPr>
          <p:cNvPr id="110" name="Google Shape;110;p10"/>
          <p:cNvGrpSpPr/>
          <p:nvPr/>
        </p:nvGrpSpPr>
        <p:grpSpPr>
          <a:xfrm>
            <a:off x="43237" y="4724428"/>
            <a:ext cx="428721" cy="393609"/>
            <a:chOff x="0" y="3785672"/>
            <a:chExt cx="698925" cy="684657"/>
          </a:xfrm>
        </p:grpSpPr>
        <p:sp>
          <p:nvSpPr>
            <p:cNvPr id="111" name="Google Shape;11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14" name="Google Shape;11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10"/>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grpSp>
        <p:nvGrpSpPr>
          <p:cNvPr id="117" name="Google Shape;117;p11"/>
          <p:cNvGrpSpPr/>
          <p:nvPr/>
        </p:nvGrpSpPr>
        <p:grpSpPr>
          <a:xfrm>
            <a:off x="4406400" y="0"/>
            <a:ext cx="4737600" cy="5143065"/>
            <a:chOff x="4406400" y="0"/>
            <a:chExt cx="4737600" cy="5143065"/>
          </a:xfrm>
        </p:grpSpPr>
        <p:sp>
          <p:nvSpPr>
            <p:cNvPr id="118" name="Google Shape;118;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6908099" y="2069505"/>
              <a:ext cx="808800" cy="808800"/>
            </a:xfrm>
            <a:prstGeom prst="diagStripe">
              <a:avLst>
                <a:gd fmla="val 50000" name="adj"/>
              </a:avLst>
            </a:prstGeom>
            <a:solidFill>
              <a:srgbClr val="002D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7227414" y="3710807"/>
              <a:ext cx="808800" cy="808800"/>
            </a:xfrm>
            <a:prstGeom prst="diagStripe">
              <a:avLst>
                <a:gd fmla="val 50000" name="adj"/>
              </a:avLst>
            </a:prstGeom>
            <a:solidFill>
              <a:srgbClr val="68AC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37" name="Google Shape;137;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38" name="Google Shape;138;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1"/>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2" name="Google Shape;142;p12"/>
          <p:cNvSpPr txBox="1"/>
          <p:nvPr/>
        </p:nvSpPr>
        <p:spPr>
          <a:xfrm>
            <a:off x="6831575" y="4751875"/>
            <a:ext cx="1724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jhudatascience.org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hyperlink" Target="https://anvil.terra.bio/" TargetMode="External"/><Relationship Id="rId4" Type="http://schemas.openxmlformats.org/officeDocument/2006/relationships/hyperlink" Target="https://anvil.terra.bio/" TargetMode="External"/><Relationship Id="rId5" Type="http://schemas.openxmlformats.org/officeDocument/2006/relationships/hyperlink" Target="https://creativecommons.org/licenses/by/4.0/" TargetMode="External"/><Relationship Id="rId6"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anvil.terra.bio/" TargetMode="External"/><Relationship Id="rId4" Type="http://schemas.openxmlformats.org/officeDocument/2006/relationships/hyperlink" Target="https://creativecommons.org/licenses/by/4.0/" TargetMode="External"/><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anvil.terra.bio/#billing" TargetMode="External"/><Relationship Id="rId4" Type="http://schemas.openxmlformats.org/officeDocument/2006/relationships/hyperlink" Target="https://creativecommons.org/licenses/by/4.0/" TargetMode="External"/><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3"/>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Add Members to</a:t>
            </a:r>
            <a:endParaRPr/>
          </a:p>
          <a:p>
            <a:pPr indent="0" lvl="0" marL="0" rtl="0" algn="ctr">
              <a:spcBef>
                <a:spcPts val="0"/>
              </a:spcBef>
              <a:spcAft>
                <a:spcPts val="0"/>
              </a:spcAft>
              <a:buNone/>
            </a:pPr>
            <a:r>
              <a:rPr lang="en"/>
              <a:t>Billing Project</a:t>
            </a:r>
            <a:endParaRPr/>
          </a:p>
        </p:txBody>
      </p:sp>
      <p:sp>
        <p:nvSpPr>
          <p:cNvPr id="148" name="Google Shape;148;p13"/>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54" name="Google Shape;154;p14"/>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lt1"/>
              </a:buClr>
              <a:buSzPts val="1100"/>
              <a:buFont typeface="Arial"/>
              <a:buNone/>
            </a:pPr>
            <a:r>
              <a:rPr lang="en" u="sng">
                <a:solidFill>
                  <a:schemeClr val="hlink"/>
                </a:solidFill>
                <a:hlinkClick r:id="rId3"/>
              </a:rPr>
              <a:t>https://anvil.terra.bio/</a:t>
            </a:r>
            <a:r>
              <a:rPr lang="en" u="sng">
                <a:solidFill>
                  <a:schemeClr val="hlink"/>
                </a:solidFill>
                <a:hlinkClick r:id="rId4"/>
              </a:rPr>
              <a:t> </a:t>
            </a:r>
            <a:r>
              <a:rPr lang="en"/>
              <a:t> </a:t>
            </a:r>
            <a:r>
              <a:rPr lang="en"/>
              <a:t>homepage  screenshot by Katherine Cox.  </a:t>
            </a:r>
            <a:r>
              <a:rPr lang="en" u="sng">
                <a:solidFill>
                  <a:schemeClr val="accent5"/>
                </a:solidFill>
                <a:hlinkClick r:id="rId5">
                  <a:extLst>
                    <a:ext uri="{A12FA001-AC4F-418D-AE19-62706E023703}">
                      <ahyp:hlinkClr val="tx"/>
                    </a:ext>
                  </a:extLst>
                </a:hlinkClick>
              </a:rPr>
              <a:t>CC-BY-4.0</a:t>
            </a:r>
            <a:endParaRPr/>
          </a:p>
        </p:txBody>
      </p:sp>
      <p:pic>
        <p:nvPicPr>
          <p:cNvPr id="160" name="Google Shape;160;p15"/>
          <p:cNvPicPr preferRelativeResize="0"/>
          <p:nvPr/>
        </p:nvPicPr>
        <p:blipFill>
          <a:blip r:embed="rId6">
            <a:alphaModFix/>
          </a:blip>
          <a:stretch>
            <a:fillRect/>
          </a:stretch>
        </p:blipFill>
        <p:spPr>
          <a:xfrm>
            <a:off x="152400" y="590700"/>
            <a:ext cx="8839204" cy="39621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https://anvil.terra.bio/</a:t>
            </a:r>
            <a:r>
              <a:rPr lang="en"/>
              <a:t> select Billing from drop-down menu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66" name="Google Shape;166;p16"/>
          <p:cNvPicPr preferRelativeResize="0"/>
          <p:nvPr/>
        </p:nvPicPr>
        <p:blipFill>
          <a:blip r:embed="rId5">
            <a:alphaModFix/>
          </a:blip>
          <a:stretch>
            <a:fillRect/>
          </a:stretch>
        </p:blipFill>
        <p:spPr>
          <a:xfrm>
            <a:off x="152400" y="989538"/>
            <a:ext cx="8839199" cy="3164414"/>
          </a:xfrm>
          <a:prstGeom prst="rect">
            <a:avLst/>
          </a:prstGeom>
          <a:noFill/>
          <a:ln>
            <a:noFill/>
          </a:ln>
        </p:spPr>
      </p:pic>
      <p:sp>
        <p:nvSpPr>
          <p:cNvPr id="167" name="Google Shape;167;p16"/>
          <p:cNvSpPr/>
          <p:nvPr/>
        </p:nvSpPr>
        <p:spPr>
          <a:xfrm>
            <a:off x="210312" y="1024128"/>
            <a:ext cx="504000" cy="5238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p:nvPr/>
        </p:nvSpPr>
        <p:spPr>
          <a:xfrm>
            <a:off x="2359828" y="1773936"/>
            <a:ext cx="3795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6"/>
          <p:cNvSpPr/>
          <p:nvPr/>
        </p:nvSpPr>
        <p:spPr>
          <a:xfrm>
            <a:off x="418422" y="3063240"/>
            <a:ext cx="7977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https://anvil.terra.bio/#billing</a:t>
            </a:r>
            <a:r>
              <a:rPr lang="en"/>
              <a:t> Billing Projects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75" name="Google Shape;175;p17"/>
          <p:cNvPicPr preferRelativeResize="0"/>
          <p:nvPr/>
        </p:nvPicPr>
        <p:blipFill>
          <a:blip r:embed="rId5">
            <a:alphaModFix/>
          </a:blip>
          <a:stretch>
            <a:fillRect/>
          </a:stretch>
        </p:blipFill>
        <p:spPr>
          <a:xfrm>
            <a:off x="152400" y="152400"/>
            <a:ext cx="6895508" cy="4377550"/>
          </a:xfrm>
          <a:prstGeom prst="rect">
            <a:avLst/>
          </a:prstGeom>
          <a:noFill/>
          <a:ln>
            <a:noFill/>
          </a:ln>
        </p:spPr>
      </p:pic>
      <p:sp>
        <p:nvSpPr>
          <p:cNvPr id="176" name="Google Shape;176;p17"/>
          <p:cNvSpPr/>
          <p:nvPr/>
        </p:nvSpPr>
        <p:spPr>
          <a:xfrm>
            <a:off x="418433" y="2055775"/>
            <a:ext cx="33993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https://anvil.terra.bio/#billing</a:t>
            </a:r>
            <a:r>
              <a:rPr lang="en"/>
              <a:t> Billing Projects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2" name="Google Shape;182;p18"/>
          <p:cNvPicPr preferRelativeResize="0"/>
          <p:nvPr/>
        </p:nvPicPr>
        <p:blipFill>
          <a:blip r:embed="rId5">
            <a:alphaModFix/>
          </a:blip>
          <a:stretch>
            <a:fillRect/>
          </a:stretch>
        </p:blipFill>
        <p:spPr>
          <a:xfrm>
            <a:off x="152400" y="152400"/>
            <a:ext cx="6895508" cy="4377550"/>
          </a:xfrm>
          <a:prstGeom prst="rect">
            <a:avLst/>
          </a:prstGeom>
          <a:noFill/>
          <a:ln>
            <a:noFill/>
          </a:ln>
        </p:spPr>
      </p:pic>
      <p:sp>
        <p:nvSpPr>
          <p:cNvPr id="183" name="Google Shape;183;p18"/>
          <p:cNvSpPr/>
          <p:nvPr/>
        </p:nvSpPr>
        <p:spPr>
          <a:xfrm>
            <a:off x="537729" y="3222350"/>
            <a:ext cx="1835100" cy="357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9"/>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https://anvil.terra.bio/#billing</a:t>
            </a:r>
            <a:r>
              <a:rPr lang="en"/>
              <a:t> Billing Project member management page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89" name="Google Shape;189;p19"/>
          <p:cNvPicPr preferRelativeResize="0"/>
          <p:nvPr/>
        </p:nvPicPr>
        <p:blipFill rotWithShape="1">
          <a:blip r:embed="rId5">
            <a:alphaModFix/>
          </a:blip>
          <a:srcRect b="29819" l="0" r="30671" t="0"/>
          <a:stretch/>
        </p:blipFill>
        <p:spPr>
          <a:xfrm>
            <a:off x="152400" y="152400"/>
            <a:ext cx="8613678" cy="4529951"/>
          </a:xfrm>
          <a:prstGeom prst="rect">
            <a:avLst/>
          </a:prstGeom>
          <a:noFill/>
          <a:ln>
            <a:noFill/>
          </a:ln>
        </p:spPr>
      </p:pic>
      <p:sp>
        <p:nvSpPr>
          <p:cNvPr id="190" name="Google Shape;190;p19"/>
          <p:cNvSpPr/>
          <p:nvPr/>
        </p:nvSpPr>
        <p:spPr>
          <a:xfrm>
            <a:off x="3730752" y="2278175"/>
            <a:ext cx="1213500" cy="3864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9"/>
          <p:cNvSpPr/>
          <p:nvPr/>
        </p:nvSpPr>
        <p:spPr>
          <a:xfrm>
            <a:off x="5043475" y="1816125"/>
            <a:ext cx="1213500" cy="331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https://anvil.terra.bio/#billing</a:t>
            </a:r>
            <a:r>
              <a:rPr lang="en"/>
              <a:t> add user to Billing Project dialog box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197" name="Google Shape;197;p20"/>
          <p:cNvPicPr preferRelativeResize="0"/>
          <p:nvPr/>
        </p:nvPicPr>
        <p:blipFill>
          <a:blip r:embed="rId5">
            <a:alphaModFix/>
          </a:blip>
          <a:stretch>
            <a:fillRect/>
          </a:stretch>
        </p:blipFill>
        <p:spPr>
          <a:xfrm>
            <a:off x="152400" y="152400"/>
            <a:ext cx="7210797" cy="4377550"/>
          </a:xfrm>
          <a:prstGeom prst="rect">
            <a:avLst/>
          </a:prstGeom>
          <a:noFill/>
          <a:ln>
            <a:noFill/>
          </a:ln>
        </p:spPr>
      </p:pic>
      <p:sp>
        <p:nvSpPr>
          <p:cNvPr id="198" name="Google Shape;198;p20"/>
          <p:cNvSpPr/>
          <p:nvPr/>
        </p:nvSpPr>
        <p:spPr>
          <a:xfrm>
            <a:off x="1802875" y="1537750"/>
            <a:ext cx="2769000" cy="397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https://anvil.terra.bio/#billing</a:t>
            </a:r>
            <a:r>
              <a:rPr lang="en"/>
              <a:t> add user to Billing Project dialog box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04" name="Google Shape;204;p21"/>
          <p:cNvPicPr preferRelativeResize="0"/>
          <p:nvPr/>
        </p:nvPicPr>
        <p:blipFill>
          <a:blip r:embed="rId5">
            <a:alphaModFix/>
          </a:blip>
          <a:stretch>
            <a:fillRect/>
          </a:stretch>
        </p:blipFill>
        <p:spPr>
          <a:xfrm>
            <a:off x="152400" y="152400"/>
            <a:ext cx="7210797" cy="4377550"/>
          </a:xfrm>
          <a:prstGeom prst="rect">
            <a:avLst/>
          </a:prstGeom>
          <a:noFill/>
          <a:ln>
            <a:noFill/>
          </a:ln>
        </p:spPr>
      </p:pic>
      <p:sp>
        <p:nvSpPr>
          <p:cNvPr id="205" name="Google Shape;205;p21"/>
          <p:cNvSpPr/>
          <p:nvPr/>
        </p:nvSpPr>
        <p:spPr>
          <a:xfrm>
            <a:off x="1710075" y="2373000"/>
            <a:ext cx="2769000" cy="318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2"/>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https://anvil.terra.bio/#billing</a:t>
            </a:r>
            <a:r>
              <a:rPr lang="en"/>
              <a:t> add user to Billing Project dialog box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11" name="Google Shape;211;p22"/>
          <p:cNvPicPr preferRelativeResize="0"/>
          <p:nvPr/>
        </p:nvPicPr>
        <p:blipFill>
          <a:blip r:embed="rId5">
            <a:alphaModFix/>
          </a:blip>
          <a:stretch>
            <a:fillRect/>
          </a:stretch>
        </p:blipFill>
        <p:spPr>
          <a:xfrm>
            <a:off x="152400" y="152400"/>
            <a:ext cx="7210797" cy="4377550"/>
          </a:xfrm>
          <a:prstGeom prst="rect">
            <a:avLst/>
          </a:prstGeom>
          <a:noFill/>
          <a:ln>
            <a:noFill/>
          </a:ln>
        </p:spPr>
      </p:pic>
      <p:sp>
        <p:nvSpPr>
          <p:cNvPr id="212" name="Google Shape;212;p22"/>
          <p:cNvSpPr/>
          <p:nvPr/>
        </p:nvSpPr>
        <p:spPr>
          <a:xfrm>
            <a:off x="5474900" y="3420175"/>
            <a:ext cx="1285800" cy="4110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https://anvil.terra.bio/#billing</a:t>
            </a:r>
            <a:r>
              <a:rPr lang="en"/>
              <a:t> Billing Project member management page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18" name="Google Shape;218;p23"/>
          <p:cNvPicPr preferRelativeResize="0"/>
          <p:nvPr/>
        </p:nvPicPr>
        <p:blipFill>
          <a:blip r:embed="rId5">
            <a:alphaModFix/>
          </a:blip>
          <a:stretch>
            <a:fillRect/>
          </a:stretch>
        </p:blipFill>
        <p:spPr>
          <a:xfrm>
            <a:off x="152400" y="152400"/>
            <a:ext cx="8839204" cy="4294437"/>
          </a:xfrm>
          <a:prstGeom prst="rect">
            <a:avLst/>
          </a:prstGeom>
          <a:noFill/>
          <a:ln>
            <a:noFill/>
          </a:ln>
        </p:spPr>
      </p:pic>
      <p:sp>
        <p:nvSpPr>
          <p:cNvPr id="219" name="Google Shape;219;p23"/>
          <p:cNvSpPr/>
          <p:nvPr/>
        </p:nvSpPr>
        <p:spPr>
          <a:xfrm>
            <a:off x="2550925" y="3179600"/>
            <a:ext cx="1320000" cy="2802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3"/>
          <p:cNvSpPr/>
          <p:nvPr/>
        </p:nvSpPr>
        <p:spPr>
          <a:xfrm>
            <a:off x="5579975" y="3179600"/>
            <a:ext cx="345600" cy="2802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4"/>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solidFill>
                  <a:schemeClr val="accent5"/>
                </a:solidFill>
                <a:hlinkClick r:id="rId3">
                  <a:extLst>
                    <a:ext uri="{A12FA001-AC4F-418D-AE19-62706E023703}">
                      <ahyp:hlinkClr val="tx"/>
                    </a:ext>
                  </a:extLst>
                </a:hlinkClick>
              </a:rPr>
              <a:t>https://anvil.terra.bio/#billing</a:t>
            </a:r>
            <a:r>
              <a:rPr lang="en"/>
              <a:t> Billing Project member management page screenshot by Katherine Cox.  </a:t>
            </a:r>
            <a:r>
              <a:rPr lang="en" u="sng">
                <a:solidFill>
                  <a:schemeClr val="accent5"/>
                </a:solidFill>
                <a:hlinkClick r:id="rId4">
                  <a:extLst>
                    <a:ext uri="{A12FA001-AC4F-418D-AE19-62706E023703}">
                      <ahyp:hlinkClr val="tx"/>
                    </a:ext>
                  </a:extLst>
                </a:hlinkClick>
              </a:rPr>
              <a:t>CC-BY-4.0</a:t>
            </a:r>
            <a:endParaRPr/>
          </a:p>
        </p:txBody>
      </p:sp>
      <p:pic>
        <p:nvPicPr>
          <p:cNvPr id="226" name="Google Shape;226;p24"/>
          <p:cNvPicPr preferRelativeResize="0"/>
          <p:nvPr/>
        </p:nvPicPr>
        <p:blipFill>
          <a:blip r:embed="rId5">
            <a:alphaModFix/>
          </a:blip>
          <a:stretch>
            <a:fillRect/>
          </a:stretch>
        </p:blipFill>
        <p:spPr>
          <a:xfrm>
            <a:off x="152400" y="152400"/>
            <a:ext cx="8839204" cy="4294437"/>
          </a:xfrm>
          <a:prstGeom prst="rect">
            <a:avLst/>
          </a:prstGeom>
          <a:noFill/>
          <a:ln>
            <a:noFill/>
          </a:ln>
        </p:spPr>
      </p:pic>
      <p:sp>
        <p:nvSpPr>
          <p:cNvPr id="227" name="Google Shape;227;p24"/>
          <p:cNvSpPr/>
          <p:nvPr/>
        </p:nvSpPr>
        <p:spPr>
          <a:xfrm>
            <a:off x="8536150" y="3179600"/>
            <a:ext cx="345600" cy="2802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5"/>
          <p:cNvSpPr txBox="1"/>
          <p:nvPr>
            <p:ph idx="1" type="body"/>
          </p:nvPr>
        </p:nvSpPr>
        <p:spPr>
          <a:xfrm>
            <a:off x="418425" y="4682350"/>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t/>
            </a:r>
            <a:endParaRPr/>
          </a:p>
        </p:txBody>
      </p:sp>
      <p:pic>
        <p:nvPicPr>
          <p:cNvPr id="233" name="Google Shape;233;p25"/>
          <p:cNvPicPr preferRelativeResize="0"/>
          <p:nvPr/>
        </p:nvPicPr>
        <p:blipFill>
          <a:blip r:embed="rId3">
            <a:alphaModFix/>
          </a:blip>
          <a:stretch>
            <a:fillRect/>
          </a:stretch>
        </p:blipFill>
        <p:spPr>
          <a:xfrm>
            <a:off x="152400" y="152400"/>
            <a:ext cx="7837426" cy="4377549"/>
          </a:xfrm>
          <a:prstGeom prst="rect">
            <a:avLst/>
          </a:prstGeom>
          <a:noFill/>
          <a:ln>
            <a:noFill/>
          </a:ln>
        </p:spPr>
      </p:pic>
      <p:sp>
        <p:nvSpPr>
          <p:cNvPr id="234" name="Google Shape;234;p25"/>
          <p:cNvSpPr/>
          <p:nvPr/>
        </p:nvSpPr>
        <p:spPr>
          <a:xfrm>
            <a:off x="2319875" y="1537750"/>
            <a:ext cx="3022500" cy="397500"/>
          </a:xfrm>
          <a:prstGeom prst="rect">
            <a:avLst/>
          </a:prstGeom>
          <a:noFill/>
          <a:ln cap="flat" cmpd="sng" w="3810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Contributions</a:t>
            </a:r>
            <a:endParaRPr/>
          </a:p>
        </p:txBody>
      </p:sp>
      <p:sp>
        <p:nvSpPr>
          <p:cNvPr id="240" name="Google Shape;240;p2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a:t>Katherine Cox</a:t>
            </a:r>
            <a:endParaRPr/>
          </a:p>
          <a:p>
            <a:pPr indent="-349250" lvl="0" marL="457200" rtl="0" algn="l">
              <a:spcBef>
                <a:spcPts val="0"/>
              </a:spcBef>
              <a:spcAft>
                <a:spcPts val="0"/>
              </a:spcAft>
              <a:buSzPts val="1900"/>
              <a:buChar char="-"/>
            </a:pPr>
            <a:r>
              <a:rPr lang="en"/>
              <a:t>Ava Hoffman</a:t>
            </a:r>
            <a:endParaRPr/>
          </a:p>
          <a:p>
            <a:pPr indent="-349250" lvl="0" marL="457200" rtl="0" algn="l">
              <a:spcBef>
                <a:spcPts val="0"/>
              </a:spcBef>
              <a:spcAft>
                <a:spcPts val="0"/>
              </a:spcAft>
              <a:buSzPts val="1900"/>
              <a:buChar char="-"/>
            </a:pPr>
            <a:r>
              <a:rPr lang="en"/>
              <a:t>Frederick Tan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DABF24"/>
      </a:accent1>
      <a:accent2>
        <a:srgbClr val="DABF24"/>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