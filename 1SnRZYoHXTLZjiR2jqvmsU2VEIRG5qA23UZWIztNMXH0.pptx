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will show you how to create a Group on Terra.  Creating a Group</a:t>
            </a:r>
            <a:r>
              <a:rPr lang="en"/>
              <a:t> make it easier to manage multiple users by enabling you to grant and revoke permissions to the group as a whole.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5e284b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5e284b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get started, log in to Terra.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6f8d759b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6f8d759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Click the triple bar in the top left corner to access the drop-down menu. Click the arrow next to your name to expand the menu, then click “Groups”.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baba6c5e0d_1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baba6c5e0d_1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“Create a New Group”</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baba6c5e0d_1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baba6c5e0d_1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Enter a name for your group.  Names must be unique, so it’s often helpful to include your team’s name, the purpose of the group, and optionally the timeframe, if you will have similar groups in the future.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baba6c5e0d_1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baba6c5e0d_1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r>
              <a:rPr lang="en"/>
              <a:t>lick “CREATE GROUP”.</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baba6c5e0d_1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baba6c5e0d_1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Your new group should now show up in your Groups list.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baba6c5e0d_1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baba6c5e0d_1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note of the email address associated with your group.  </a:t>
            </a:r>
            <a:r>
              <a:rPr lang="en"/>
              <a:t>You will use this email to grant the group access to Billing Projects and Workspaces.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baba6c5e0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baba6c5e0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to everyone who contributed!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anvil.terra.bio/" TargetMode="External"/><Relationship Id="rId4" Type="http://schemas.openxmlformats.org/officeDocument/2006/relationships/hyperlink" Target="https://anvil.terra.bio/" TargetMode="External"/><Relationship Id="rId5" Type="http://schemas.openxmlformats.org/officeDocument/2006/relationships/hyperlink" Target="https://creativecommons.org/licenses/by/4.0/" TargetMode="External"/><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hyperlink" Target="https://anvil.terra.bio/#groups" TargetMode="External"/><Relationship Id="rId5" Type="http://schemas.openxmlformats.org/officeDocument/2006/relationships/hyperlink" Target="https://creativecommons.org/licenses/by/4.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anvil.terra.bio/#groups" TargetMode="External"/><Relationship Id="rId4" Type="http://schemas.openxmlformats.org/officeDocument/2006/relationships/hyperlink" Target="https://creativecommons.org/licenses/by/4.0/" TargetMode="External"/><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anvil.terra.bio/#groups" TargetMode="External"/><Relationship Id="rId4" Type="http://schemas.openxmlformats.org/officeDocument/2006/relationships/hyperlink" Target="https://creativecommons.org/licenses/by/4.0/" TargetMode="External"/><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anvil.terra.bio/#groups" TargetMode="External"/><Relationship Id="rId4" Type="http://schemas.openxmlformats.org/officeDocument/2006/relationships/hyperlink" Target="https://creativecommons.org/licenses/by/4.0/" TargetMode="External"/><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https://anvil.terra.bio/#groups" TargetMode="External"/><Relationship Id="rId4" Type="http://schemas.openxmlformats.org/officeDocument/2006/relationships/hyperlink" Target="https://creativecommons.org/licenses/by/4.0/" TargetMode="External"/><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Create Terra</a:t>
            </a:r>
            <a:endParaRPr/>
          </a:p>
          <a:p>
            <a:pPr indent="0" lvl="0" marL="0" rtl="0" algn="ctr">
              <a:spcBef>
                <a:spcPts val="0"/>
              </a:spcBef>
              <a:spcAft>
                <a:spcPts val="0"/>
              </a:spcAft>
              <a:buNone/>
            </a:pPr>
            <a:r>
              <a:rPr lang="en"/>
              <a:t>Group</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hlink"/>
                </a:solidFill>
                <a:hlinkClick r:id="rId3"/>
              </a:rPr>
              <a:t>https://anvil.terra.bio/</a:t>
            </a:r>
            <a:r>
              <a:rPr lang="en" u="sng">
                <a:solidFill>
                  <a:schemeClr val="hlink"/>
                </a:solidFill>
                <a:hlinkClick r:id="rId4"/>
              </a:rPr>
              <a:t> </a:t>
            </a:r>
            <a:r>
              <a:rPr lang="en"/>
              <a:t> </a:t>
            </a:r>
            <a:r>
              <a:rPr lang="en"/>
              <a:t>homepage  screenshot by Katherine Cox.  </a:t>
            </a:r>
            <a:r>
              <a:rPr lang="en" u="sng">
                <a:solidFill>
                  <a:schemeClr val="accent5"/>
                </a:solidFill>
                <a:hlinkClick r:id="rId5">
                  <a:extLst>
                    <a:ext uri="{A12FA001-AC4F-418D-AE19-62706E023703}">
                      <ahyp:hlinkClr val="tx"/>
                    </a:ext>
                  </a:extLst>
                </a:hlinkClick>
              </a:rPr>
              <a:t>CC-BY-4.0</a:t>
            </a:r>
            <a:endParaRPr/>
          </a:p>
        </p:txBody>
      </p:sp>
      <p:pic>
        <p:nvPicPr>
          <p:cNvPr id="160" name="Google Shape;160;p15"/>
          <p:cNvPicPr preferRelativeResize="0"/>
          <p:nvPr/>
        </p:nvPicPr>
        <p:blipFill>
          <a:blip r:embed="rId6">
            <a:alphaModFix/>
          </a:blip>
          <a:stretch>
            <a:fillRect/>
          </a:stretch>
        </p:blipFill>
        <p:spPr>
          <a:xfrm>
            <a:off x="152400" y="590700"/>
            <a:ext cx="8839204" cy="39621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a:t>
            </a:r>
            <a:r>
              <a:rPr lang="en"/>
              <a:t> select Groups from drop-down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989538"/>
            <a:ext cx="8839199" cy="3164414"/>
          </a:xfrm>
          <a:prstGeom prst="rect">
            <a:avLst/>
          </a:prstGeom>
          <a:noFill/>
          <a:ln>
            <a:noFill/>
          </a:ln>
        </p:spPr>
      </p:pic>
      <p:sp>
        <p:nvSpPr>
          <p:cNvPr id="167" name="Google Shape;167;p16"/>
          <p:cNvSpPr/>
          <p:nvPr/>
        </p:nvSpPr>
        <p:spPr>
          <a:xfrm>
            <a:off x="210312" y="1024128"/>
            <a:ext cx="504000" cy="523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2359828" y="1773936"/>
            <a:ext cx="3795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418422" y="2678815"/>
            <a:ext cx="797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17"/>
          <p:cNvPicPr preferRelativeResize="0"/>
          <p:nvPr/>
        </p:nvPicPr>
        <p:blipFill>
          <a:blip r:embed="rId3">
            <a:alphaModFix/>
          </a:blip>
          <a:stretch>
            <a:fillRect/>
          </a:stretch>
        </p:blipFill>
        <p:spPr>
          <a:xfrm>
            <a:off x="1059790" y="468630"/>
            <a:ext cx="7024420" cy="4206240"/>
          </a:xfrm>
          <a:prstGeom prst="rect">
            <a:avLst/>
          </a:prstGeom>
          <a:noFill/>
          <a:ln>
            <a:noFill/>
          </a:ln>
        </p:spPr>
      </p:pic>
      <p:sp>
        <p:nvSpPr>
          <p:cNvPr id="175" name="Google Shape;175;p17"/>
          <p:cNvSpPr/>
          <p:nvPr/>
        </p:nvSpPr>
        <p:spPr>
          <a:xfrm>
            <a:off x="1715375" y="3001725"/>
            <a:ext cx="3818400" cy="872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txBox="1"/>
          <p:nvPr/>
        </p:nvSpPr>
        <p:spPr>
          <a:xfrm>
            <a:off x="418425" y="4682350"/>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u="sng">
                <a:solidFill>
                  <a:schemeClr val="hlink"/>
                </a:solidFill>
                <a:latin typeface="Lato"/>
                <a:ea typeface="Lato"/>
                <a:cs typeface="Lato"/>
                <a:sym typeface="Lato"/>
                <a:hlinkClick r:id="rId4"/>
              </a:rPr>
              <a:t>https://anvil.terra.bio/#groups</a:t>
            </a:r>
            <a:r>
              <a:rPr lang="en" sz="900">
                <a:solidFill>
                  <a:schemeClr val="lt1"/>
                </a:solidFill>
                <a:latin typeface="Lato"/>
                <a:ea typeface="Lato"/>
                <a:cs typeface="Lato"/>
                <a:sym typeface="Lato"/>
              </a:rPr>
              <a:t> Create a New Group in AnVIL screenshot by Ava Hoffman.  </a:t>
            </a:r>
            <a:r>
              <a:rPr lang="en" sz="900" u="sng">
                <a:solidFill>
                  <a:schemeClr val="accent5"/>
                </a:solidFill>
                <a:latin typeface="Lato"/>
                <a:ea typeface="Lato"/>
                <a:cs typeface="Lato"/>
                <a:sym typeface="Lato"/>
                <a:hlinkClick r:id="rId5">
                  <a:extLst>
                    <a:ext uri="{A12FA001-AC4F-418D-AE19-62706E023703}">
                      <ahyp:hlinkClr val="tx"/>
                    </a:ext>
                  </a:extLst>
                </a:hlinkClick>
              </a:rPr>
              <a:t>CC-BY-4.0</a:t>
            </a:r>
            <a:endParaRPr sz="900">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https://anvil.terra.bio/#groups</a:t>
            </a:r>
            <a:r>
              <a:rPr lang="en"/>
              <a:t> Create a New Group in AnVIL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2" name="Google Shape;182;p18"/>
          <p:cNvPicPr preferRelativeResize="0"/>
          <p:nvPr/>
        </p:nvPicPr>
        <p:blipFill>
          <a:blip r:embed="rId5">
            <a:alphaModFix/>
          </a:blip>
          <a:stretch>
            <a:fillRect/>
          </a:stretch>
        </p:blipFill>
        <p:spPr>
          <a:xfrm>
            <a:off x="152400" y="152400"/>
            <a:ext cx="8396594" cy="4377550"/>
          </a:xfrm>
          <a:prstGeom prst="rect">
            <a:avLst/>
          </a:prstGeom>
          <a:noFill/>
          <a:ln>
            <a:noFill/>
          </a:ln>
        </p:spPr>
      </p:pic>
      <p:sp>
        <p:nvSpPr>
          <p:cNvPr id="183" name="Google Shape;183;p18"/>
          <p:cNvSpPr/>
          <p:nvPr/>
        </p:nvSpPr>
        <p:spPr>
          <a:xfrm>
            <a:off x="418425" y="1543525"/>
            <a:ext cx="7920000" cy="872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https://anvil.terra.bio/#groups</a:t>
            </a:r>
            <a:r>
              <a:rPr lang="en"/>
              <a:t> Create a New Group in AnVIL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9" name="Google Shape;189;p19"/>
          <p:cNvPicPr preferRelativeResize="0"/>
          <p:nvPr/>
        </p:nvPicPr>
        <p:blipFill>
          <a:blip r:embed="rId5">
            <a:alphaModFix/>
          </a:blip>
          <a:stretch>
            <a:fillRect/>
          </a:stretch>
        </p:blipFill>
        <p:spPr>
          <a:xfrm>
            <a:off x="152400" y="152400"/>
            <a:ext cx="8396594" cy="4377550"/>
          </a:xfrm>
          <a:prstGeom prst="rect">
            <a:avLst/>
          </a:prstGeom>
          <a:noFill/>
          <a:ln>
            <a:noFill/>
          </a:ln>
        </p:spPr>
      </p:pic>
      <p:sp>
        <p:nvSpPr>
          <p:cNvPr id="190" name="Google Shape;190;p19"/>
          <p:cNvSpPr/>
          <p:nvPr/>
        </p:nvSpPr>
        <p:spPr>
          <a:xfrm>
            <a:off x="5435150" y="3333150"/>
            <a:ext cx="2875500" cy="872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0"/>
          <p:cNvSpPr txBox="1"/>
          <p:nvPr/>
        </p:nvSpPr>
        <p:spPr>
          <a:xfrm>
            <a:off x="418425" y="4682350"/>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u="sng">
                <a:solidFill>
                  <a:schemeClr val="hlink"/>
                </a:solidFill>
                <a:latin typeface="Lato"/>
                <a:ea typeface="Lato"/>
                <a:cs typeface="Lato"/>
                <a:sym typeface="Lato"/>
                <a:hlinkClick r:id="rId3"/>
              </a:rPr>
              <a:t>https://anvil.terra.bio/#groups</a:t>
            </a:r>
            <a:r>
              <a:rPr lang="en" sz="900">
                <a:solidFill>
                  <a:schemeClr val="lt1"/>
                </a:solidFill>
                <a:latin typeface="Lato"/>
                <a:ea typeface="Lato"/>
                <a:cs typeface="Lato"/>
                <a:sym typeface="Lato"/>
              </a:rPr>
              <a:t> Group management in AnVIL screenshot by Katherine Cox.  </a:t>
            </a:r>
            <a:r>
              <a:rPr lang="en" sz="900" u="sng">
                <a:solidFill>
                  <a:schemeClr val="accent5"/>
                </a:solidFill>
                <a:latin typeface="Lato"/>
                <a:ea typeface="Lato"/>
                <a:cs typeface="Lato"/>
                <a:sym typeface="Lato"/>
                <a:hlinkClick r:id="rId4">
                  <a:extLst>
                    <a:ext uri="{A12FA001-AC4F-418D-AE19-62706E023703}">
                      <ahyp:hlinkClr val="tx"/>
                    </a:ext>
                  </a:extLst>
                </a:hlinkClick>
              </a:rPr>
              <a:t>CC-BY-4.0</a:t>
            </a:r>
            <a:endParaRPr sz="900">
              <a:latin typeface="Lato"/>
              <a:ea typeface="Lato"/>
              <a:cs typeface="Lato"/>
              <a:sym typeface="Lato"/>
            </a:endParaRPr>
          </a:p>
        </p:txBody>
      </p:sp>
      <p:pic>
        <p:nvPicPr>
          <p:cNvPr id="196" name="Google Shape;196;p20"/>
          <p:cNvPicPr preferRelativeResize="0"/>
          <p:nvPr/>
        </p:nvPicPr>
        <p:blipFill>
          <a:blip r:embed="rId5">
            <a:alphaModFix/>
          </a:blip>
          <a:stretch>
            <a:fillRect/>
          </a:stretch>
        </p:blipFill>
        <p:spPr>
          <a:xfrm>
            <a:off x="152400" y="152400"/>
            <a:ext cx="8839204" cy="4298753"/>
          </a:xfrm>
          <a:prstGeom prst="rect">
            <a:avLst/>
          </a:prstGeom>
          <a:noFill/>
          <a:ln>
            <a:noFill/>
          </a:ln>
        </p:spPr>
      </p:pic>
      <p:sp>
        <p:nvSpPr>
          <p:cNvPr id="197" name="Google Shape;197;p20"/>
          <p:cNvSpPr/>
          <p:nvPr/>
        </p:nvSpPr>
        <p:spPr>
          <a:xfrm>
            <a:off x="418425" y="1829400"/>
            <a:ext cx="2166600" cy="318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nvSpPr>
        <p:spPr>
          <a:xfrm>
            <a:off x="418425" y="4682350"/>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u="sng">
                <a:solidFill>
                  <a:schemeClr val="hlink"/>
                </a:solidFill>
                <a:latin typeface="Lato"/>
                <a:ea typeface="Lato"/>
                <a:cs typeface="Lato"/>
                <a:sym typeface="Lato"/>
                <a:hlinkClick r:id="rId3"/>
              </a:rPr>
              <a:t>https://anvil.terra.bio/#groups</a:t>
            </a:r>
            <a:r>
              <a:rPr lang="en" sz="900">
                <a:solidFill>
                  <a:schemeClr val="lt1"/>
                </a:solidFill>
                <a:latin typeface="Lato"/>
                <a:ea typeface="Lato"/>
                <a:cs typeface="Lato"/>
                <a:sym typeface="Lato"/>
              </a:rPr>
              <a:t> Group management in AnVIL screenshot by Katherine Cox.  </a:t>
            </a:r>
            <a:r>
              <a:rPr lang="en" sz="900" u="sng">
                <a:solidFill>
                  <a:schemeClr val="accent5"/>
                </a:solidFill>
                <a:latin typeface="Lato"/>
                <a:ea typeface="Lato"/>
                <a:cs typeface="Lato"/>
                <a:sym typeface="Lato"/>
                <a:hlinkClick r:id="rId4">
                  <a:extLst>
                    <a:ext uri="{A12FA001-AC4F-418D-AE19-62706E023703}">
                      <ahyp:hlinkClr val="tx"/>
                    </a:ext>
                  </a:extLst>
                </a:hlinkClick>
              </a:rPr>
              <a:t>CC-BY-4.0</a:t>
            </a:r>
            <a:endParaRPr sz="900">
              <a:latin typeface="Lato"/>
              <a:ea typeface="Lato"/>
              <a:cs typeface="Lato"/>
              <a:sym typeface="Lato"/>
            </a:endParaRPr>
          </a:p>
        </p:txBody>
      </p:sp>
      <p:pic>
        <p:nvPicPr>
          <p:cNvPr id="203" name="Google Shape;203;p21"/>
          <p:cNvPicPr preferRelativeResize="0"/>
          <p:nvPr/>
        </p:nvPicPr>
        <p:blipFill>
          <a:blip r:embed="rId5">
            <a:alphaModFix/>
          </a:blip>
          <a:stretch>
            <a:fillRect/>
          </a:stretch>
        </p:blipFill>
        <p:spPr>
          <a:xfrm>
            <a:off x="152400" y="152400"/>
            <a:ext cx="8839204" cy="4298753"/>
          </a:xfrm>
          <a:prstGeom prst="rect">
            <a:avLst/>
          </a:prstGeom>
          <a:noFill/>
          <a:ln>
            <a:noFill/>
          </a:ln>
        </p:spPr>
      </p:pic>
      <p:sp>
        <p:nvSpPr>
          <p:cNvPr id="204" name="Google Shape;204;p21"/>
          <p:cNvSpPr/>
          <p:nvPr/>
        </p:nvSpPr>
        <p:spPr>
          <a:xfrm>
            <a:off x="5303375" y="1829400"/>
            <a:ext cx="2252700" cy="318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Contributions</a:t>
            </a:r>
            <a:endParaRPr/>
          </a:p>
        </p:txBody>
      </p:sp>
      <p:sp>
        <p:nvSpPr>
          <p:cNvPr id="210" name="Google Shape;210;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a:t>Ava Hoffman</a:t>
            </a:r>
            <a:endParaRPr/>
          </a:p>
          <a:p>
            <a:pPr indent="-349250" lvl="0" marL="457200" rtl="0" algn="l">
              <a:spcBef>
                <a:spcPts val="0"/>
              </a:spcBef>
              <a:spcAft>
                <a:spcPts val="0"/>
              </a:spcAft>
              <a:buSzPts val="1900"/>
              <a:buChar char="-"/>
            </a:pPr>
            <a:r>
              <a:rPr lang="en"/>
              <a:t>Katherine Cox</a:t>
            </a:r>
            <a:endParaRPr/>
          </a:p>
          <a:p>
            <a:pPr indent="-349250" lvl="0" marL="457200" rtl="0" algn="l">
              <a:spcBef>
                <a:spcPts val="0"/>
              </a:spcBef>
              <a:spcAft>
                <a:spcPts val="0"/>
              </a:spcAft>
              <a:buSzPts val="1900"/>
              <a:buChar char="-"/>
            </a:pPr>
            <a:r>
              <a:rPr lang="en"/>
              <a:t>Frederick Tan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