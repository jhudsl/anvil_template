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add members to a Terra Group.  Adding someone to a Group gives them access to everything the group </a:t>
            </a:r>
            <a:r>
              <a:rPr lang="en"/>
              <a:t>can</a:t>
            </a:r>
            <a:r>
              <a:rPr lang="en"/>
              <a:t> access in one easy step</a:t>
            </a:r>
            <a:r>
              <a:rPr lang="en"/>
              <a:t>.  This prevents you from having to add new members to your team’s Workspaces and Billing Projects one-by-one.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5e284b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5e284b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to Terra.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6f8d759b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6f8d759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Click the triple bar in the top left corner to access the drop-down menu. Click the arrow next to your name to expand the menu, then click “Groups”.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bbb904ed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bbb904ed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 the name of the Group you want to add someone to.  Confirm that you have Admin privileges for the group.  You can only add and remove members to Groups if you are an admin.  Click on the name of the Group to view and manage members.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d86dfc30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d86dfc30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the Add User button to add members to your group.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d86dfc306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d86dfc306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the email address for the member you want to add to your group.  Make sure this is the account that they use to access AnVIL.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d86dfc306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d86dfc306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this member will need to add and remove other members of the group, check the admin box.  Otherwise leave it unchecked.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d86dfc306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d86dfc306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“ADD USER”.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d86dfc306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d86dfc306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They should now show up in the list of group members, along with the appropriate role.  They now have access to anything that the group has been given access to.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d86dfc306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d86dfc306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need to remove members or modify their roles, you can do so at any time by clicking the teardrop button next to their name.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baba6c5e0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baba6c5e0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to everyone who contributed!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anvil.terra.bio/" TargetMode="External"/><Relationship Id="rId4" Type="http://schemas.openxmlformats.org/officeDocument/2006/relationships/hyperlink" Target="https://anvil.terra.bio/" TargetMode="External"/><Relationship Id="rId5" Type="http://schemas.openxmlformats.org/officeDocument/2006/relationships/hyperlink" Target="https://creativecommons.org/licenses/by/4.0/" TargetMode="External"/><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Add Members to Terra Group</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a:t>
            </a:r>
            <a:r>
              <a:rPr lang="en" u="sng">
                <a:solidFill>
                  <a:schemeClr val="hlink"/>
                </a:solidFill>
                <a:hlinkClick r:id="rId4"/>
              </a:rPr>
              <a:t> </a:t>
            </a:r>
            <a:r>
              <a:rPr lang="en"/>
              <a:t> </a:t>
            </a:r>
            <a:r>
              <a:rPr lang="en"/>
              <a:t>homepage  screenshot by Katherine Cox.  </a:t>
            </a:r>
            <a:r>
              <a:rPr lang="en" u="sng">
                <a:solidFill>
                  <a:schemeClr val="accent5"/>
                </a:solidFill>
                <a:hlinkClick r:id="rId5">
                  <a:extLst>
                    <a:ext uri="{A12FA001-AC4F-418D-AE19-62706E023703}">
                      <ahyp:hlinkClr val="tx"/>
                    </a:ext>
                  </a:extLst>
                </a:hlinkClick>
              </a:rPr>
              <a:t>CC-BY-4.0</a:t>
            </a:r>
            <a:endParaRPr/>
          </a:p>
        </p:txBody>
      </p:sp>
      <p:pic>
        <p:nvPicPr>
          <p:cNvPr id="160" name="Google Shape;160;p15"/>
          <p:cNvPicPr preferRelativeResize="0"/>
          <p:nvPr/>
        </p:nvPicPr>
        <p:blipFill>
          <a:blip r:embed="rId6">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a:t>
            </a:r>
            <a:r>
              <a:rPr lang="en"/>
              <a:t> select Groups from drop-down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989538"/>
            <a:ext cx="8839199" cy="3164414"/>
          </a:xfrm>
          <a:prstGeom prst="rect">
            <a:avLst/>
          </a:prstGeom>
          <a:noFill/>
          <a:ln>
            <a:noFill/>
          </a:ln>
        </p:spPr>
      </p:pic>
      <p:sp>
        <p:nvSpPr>
          <p:cNvPr id="167" name="Google Shape;167;p16"/>
          <p:cNvSpPr/>
          <p:nvPr/>
        </p:nvSpPr>
        <p:spPr>
          <a:xfrm>
            <a:off x="210312" y="1024128"/>
            <a:ext cx="504000" cy="523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2359828" y="1773936"/>
            <a:ext cx="3795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418422" y="2678815"/>
            <a:ext cx="79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nvSpPr>
        <p:spPr>
          <a:xfrm>
            <a:off x="418425" y="4682350"/>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u="sng">
                <a:solidFill>
                  <a:schemeClr val="hlink"/>
                </a:solidFill>
                <a:latin typeface="Lato"/>
                <a:ea typeface="Lato"/>
                <a:cs typeface="Lato"/>
                <a:sym typeface="Lato"/>
                <a:hlinkClick r:id="rId3"/>
              </a:rPr>
              <a:t>https://anvil.terra.bio/#groups</a:t>
            </a:r>
            <a:r>
              <a:rPr lang="en" sz="900">
                <a:solidFill>
                  <a:schemeClr val="lt1"/>
                </a:solidFill>
                <a:latin typeface="Lato"/>
                <a:ea typeface="Lato"/>
                <a:cs typeface="Lato"/>
                <a:sym typeface="Lato"/>
              </a:rPr>
              <a:t> Group management in AnVIL screenshot by Katherine Cox.  </a:t>
            </a:r>
            <a:r>
              <a:rPr lang="en" sz="900" u="sng">
                <a:solidFill>
                  <a:schemeClr val="accent5"/>
                </a:solidFill>
                <a:latin typeface="Lato"/>
                <a:ea typeface="Lato"/>
                <a:cs typeface="Lato"/>
                <a:sym typeface="Lato"/>
                <a:hlinkClick r:id="rId4">
                  <a:extLst>
                    <a:ext uri="{A12FA001-AC4F-418D-AE19-62706E023703}">
                      <ahyp:hlinkClr val="tx"/>
                    </a:ext>
                  </a:extLst>
                </a:hlinkClick>
              </a:rPr>
              <a:t>CC-BY-4.0</a:t>
            </a:r>
            <a:endParaRPr sz="900">
              <a:latin typeface="Lato"/>
              <a:ea typeface="Lato"/>
              <a:cs typeface="Lato"/>
              <a:sym typeface="Lato"/>
            </a:endParaRPr>
          </a:p>
        </p:txBody>
      </p:sp>
      <p:pic>
        <p:nvPicPr>
          <p:cNvPr id="175" name="Google Shape;175;p17"/>
          <p:cNvPicPr preferRelativeResize="0"/>
          <p:nvPr/>
        </p:nvPicPr>
        <p:blipFill>
          <a:blip r:embed="rId5">
            <a:alphaModFix/>
          </a:blip>
          <a:stretch>
            <a:fillRect/>
          </a:stretch>
        </p:blipFill>
        <p:spPr>
          <a:xfrm>
            <a:off x="152400" y="152400"/>
            <a:ext cx="8839204" cy="4298753"/>
          </a:xfrm>
          <a:prstGeom prst="rect">
            <a:avLst/>
          </a:prstGeom>
          <a:noFill/>
          <a:ln>
            <a:noFill/>
          </a:ln>
        </p:spPr>
      </p:pic>
      <p:sp>
        <p:nvSpPr>
          <p:cNvPr id="176" name="Google Shape;176;p17"/>
          <p:cNvSpPr/>
          <p:nvPr/>
        </p:nvSpPr>
        <p:spPr>
          <a:xfrm>
            <a:off x="7625800" y="1829400"/>
            <a:ext cx="540300" cy="318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418425" y="1829400"/>
            <a:ext cx="2166600" cy="318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https://anvil.terra.bio/#groups/</a:t>
            </a:r>
            <a:r>
              <a:rPr lang="en"/>
              <a:t>  Group management in AnVIL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3" name="Google Shape;183;p18"/>
          <p:cNvPicPr preferRelativeResize="0"/>
          <p:nvPr/>
        </p:nvPicPr>
        <p:blipFill>
          <a:blip r:embed="rId5">
            <a:alphaModFix/>
          </a:blip>
          <a:stretch>
            <a:fillRect/>
          </a:stretch>
        </p:blipFill>
        <p:spPr>
          <a:xfrm>
            <a:off x="152400" y="152400"/>
            <a:ext cx="8839202" cy="4065088"/>
          </a:xfrm>
          <a:prstGeom prst="rect">
            <a:avLst/>
          </a:prstGeom>
          <a:noFill/>
          <a:ln>
            <a:noFill/>
          </a:ln>
        </p:spPr>
      </p:pic>
      <p:sp>
        <p:nvSpPr>
          <p:cNvPr id="184" name="Google Shape;184;p18"/>
          <p:cNvSpPr/>
          <p:nvPr/>
        </p:nvSpPr>
        <p:spPr>
          <a:xfrm>
            <a:off x="723325" y="2200575"/>
            <a:ext cx="1371300" cy="437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https://anvil.terra.bio/#groups/</a:t>
            </a:r>
            <a:r>
              <a:rPr lang="en"/>
              <a:t>  Add group member dialogue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0" name="Google Shape;190;p19"/>
          <p:cNvPicPr preferRelativeResize="0"/>
          <p:nvPr/>
        </p:nvPicPr>
        <p:blipFill>
          <a:blip r:embed="rId5">
            <a:alphaModFix/>
          </a:blip>
          <a:stretch>
            <a:fillRect/>
          </a:stretch>
        </p:blipFill>
        <p:spPr>
          <a:xfrm>
            <a:off x="152400" y="152400"/>
            <a:ext cx="8839197" cy="4215617"/>
          </a:xfrm>
          <a:prstGeom prst="rect">
            <a:avLst/>
          </a:prstGeom>
          <a:noFill/>
          <a:ln>
            <a:noFill/>
          </a:ln>
        </p:spPr>
      </p:pic>
      <p:sp>
        <p:nvSpPr>
          <p:cNvPr id="191" name="Google Shape;191;p19"/>
          <p:cNvSpPr/>
          <p:nvPr/>
        </p:nvSpPr>
        <p:spPr>
          <a:xfrm>
            <a:off x="1889900" y="1577525"/>
            <a:ext cx="2975100" cy="583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https://anvil.terra.bio/#groups/</a:t>
            </a:r>
            <a:r>
              <a:rPr lang="en"/>
              <a:t>  Add group member dialogue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7" name="Google Shape;197;p20"/>
          <p:cNvPicPr preferRelativeResize="0"/>
          <p:nvPr/>
        </p:nvPicPr>
        <p:blipFill>
          <a:blip r:embed="rId5">
            <a:alphaModFix/>
          </a:blip>
          <a:stretch>
            <a:fillRect/>
          </a:stretch>
        </p:blipFill>
        <p:spPr>
          <a:xfrm>
            <a:off x="152400" y="152400"/>
            <a:ext cx="8839197" cy="4215617"/>
          </a:xfrm>
          <a:prstGeom prst="rect">
            <a:avLst/>
          </a:prstGeom>
          <a:noFill/>
          <a:ln>
            <a:noFill/>
          </a:ln>
        </p:spPr>
      </p:pic>
      <p:sp>
        <p:nvSpPr>
          <p:cNvPr id="198" name="Google Shape;198;p20"/>
          <p:cNvSpPr/>
          <p:nvPr/>
        </p:nvSpPr>
        <p:spPr>
          <a:xfrm>
            <a:off x="1863400" y="2571750"/>
            <a:ext cx="3081300" cy="3843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https://anvil.terra.bio/#groups/</a:t>
            </a:r>
            <a:r>
              <a:rPr lang="en"/>
              <a:t>  Add group member dialogue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04" name="Google Shape;204;p21"/>
          <p:cNvPicPr preferRelativeResize="0"/>
          <p:nvPr/>
        </p:nvPicPr>
        <p:blipFill>
          <a:blip r:embed="rId5">
            <a:alphaModFix/>
          </a:blip>
          <a:stretch>
            <a:fillRect/>
          </a:stretch>
        </p:blipFill>
        <p:spPr>
          <a:xfrm>
            <a:off x="152400" y="152400"/>
            <a:ext cx="8839197" cy="4215617"/>
          </a:xfrm>
          <a:prstGeom prst="rect">
            <a:avLst/>
          </a:prstGeom>
          <a:noFill/>
          <a:ln>
            <a:noFill/>
          </a:ln>
        </p:spPr>
      </p:pic>
      <p:sp>
        <p:nvSpPr>
          <p:cNvPr id="205" name="Google Shape;205;p21"/>
          <p:cNvSpPr/>
          <p:nvPr/>
        </p:nvSpPr>
        <p:spPr>
          <a:xfrm>
            <a:off x="6044950" y="3115275"/>
            <a:ext cx="1444800" cy="457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11" name="Google Shape;211;p22"/>
          <p:cNvPicPr preferRelativeResize="0"/>
          <p:nvPr/>
        </p:nvPicPr>
        <p:blipFill>
          <a:blip r:embed="rId3">
            <a:alphaModFix/>
          </a:blip>
          <a:stretch>
            <a:fillRect/>
          </a:stretch>
        </p:blipFill>
        <p:spPr>
          <a:xfrm>
            <a:off x="712288" y="152400"/>
            <a:ext cx="7719435" cy="4377549"/>
          </a:xfrm>
          <a:prstGeom prst="rect">
            <a:avLst/>
          </a:prstGeom>
          <a:noFill/>
          <a:ln>
            <a:noFill/>
          </a:ln>
        </p:spPr>
      </p:pic>
      <p:sp>
        <p:nvSpPr>
          <p:cNvPr id="212" name="Google Shape;212;p22"/>
          <p:cNvSpPr/>
          <p:nvPr/>
        </p:nvSpPr>
        <p:spPr>
          <a:xfrm>
            <a:off x="6816938" y="3691875"/>
            <a:ext cx="927900" cy="457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2"/>
          <p:cNvSpPr/>
          <p:nvPr/>
        </p:nvSpPr>
        <p:spPr>
          <a:xfrm>
            <a:off x="1308838" y="3691875"/>
            <a:ext cx="1902300" cy="457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19" name="Google Shape;219;p23"/>
          <p:cNvPicPr preferRelativeResize="0"/>
          <p:nvPr/>
        </p:nvPicPr>
        <p:blipFill rotWithShape="1">
          <a:blip r:embed="rId3">
            <a:alphaModFix/>
          </a:blip>
          <a:srcRect b="3735" l="0" r="2410" t="0"/>
          <a:stretch/>
        </p:blipFill>
        <p:spPr>
          <a:xfrm>
            <a:off x="177275" y="152400"/>
            <a:ext cx="8789443" cy="4529949"/>
          </a:xfrm>
          <a:prstGeom prst="rect">
            <a:avLst/>
          </a:prstGeom>
          <a:noFill/>
          <a:ln>
            <a:noFill/>
          </a:ln>
        </p:spPr>
      </p:pic>
      <p:sp>
        <p:nvSpPr>
          <p:cNvPr id="220" name="Google Shape;220;p23"/>
          <p:cNvSpPr/>
          <p:nvPr/>
        </p:nvSpPr>
        <p:spPr>
          <a:xfrm>
            <a:off x="8487400" y="2670048"/>
            <a:ext cx="371100" cy="360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Contributions</a:t>
            </a:r>
            <a:endParaRPr/>
          </a:p>
        </p:txBody>
      </p:sp>
      <p:sp>
        <p:nvSpPr>
          <p:cNvPr id="226" name="Google Shape;226;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a:t>Ava Hoffman</a:t>
            </a:r>
            <a:endParaRPr/>
          </a:p>
          <a:p>
            <a:pPr indent="-349250" lvl="0" marL="457200" rtl="0" algn="l">
              <a:spcBef>
                <a:spcPts val="0"/>
              </a:spcBef>
              <a:spcAft>
                <a:spcPts val="0"/>
              </a:spcAft>
              <a:buSzPts val="1900"/>
              <a:buChar char="-"/>
            </a:pPr>
            <a:r>
              <a:rPr lang="en"/>
              <a:t>Katherine Cox</a:t>
            </a:r>
            <a:endParaRPr/>
          </a:p>
          <a:p>
            <a:pPr indent="-349250" lvl="0" marL="457200" rtl="0" algn="l">
              <a:spcBef>
                <a:spcPts val="0"/>
              </a:spcBef>
              <a:spcAft>
                <a:spcPts val="0"/>
              </a:spcAft>
              <a:buSzPts val="1900"/>
              <a:buChar char="-"/>
            </a:pPr>
            <a:r>
              <a:rPr lang="en"/>
              <a:t>Frederick Tan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