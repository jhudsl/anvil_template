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video will show you how to find the email address associated with a Terra Group.  </a:t>
            </a:r>
            <a:r>
              <a:rPr lang="en"/>
              <a:t>If you want to grant a Terra Group access to Terra resources such as Billing Projects or Workspaces, you will need the email address associated with the Group.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cf1264c749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cf1264c749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Except where otherwise indicated, this content is available for use under CC B Y 4.0.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15e284bd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15e284bd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First, log in to Terra.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6f8d759b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16f8d759b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Click the triple bar in the top left corner to access the drop-down menu. Click the arrow next to your name to expand the menu, then click “Groups”.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baba6c5e0d_1_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baba6c5e0d_1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the name of your group, then look in the “Group Email” column to find the email address associated with your group.  Copy this email address.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fead1ae25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fead1ae25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aste the email in as the username when adding people to Billing Projects and Workspaces.  This will grant everyone in the Group access to the Billing Project or Workspace.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baba6c5e0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baba6c5e0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to everyone who contributed!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hyperlink" Target="https://creativecommons.org/licenses/by/4.0/" TargetMode="External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1" name="Google Shape;11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" name="Google Shape;15;p2"/>
          <p:cNvSpPr/>
          <p:nvPr/>
        </p:nvSpPr>
        <p:spPr>
          <a:xfrm rot="5400000">
            <a:off x="7500300" y="5"/>
            <a:ext cx="1643700" cy="1643700"/>
          </a:xfrm>
          <a:prstGeom prst="diagStripe">
            <a:avLst>
              <a:gd fmla="val 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37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2997775" y="3033950"/>
            <a:ext cx="59394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52847" y="4331125"/>
            <a:ext cx="810900" cy="71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0" l="17840" r="20320" t="0"/>
          <a:stretch/>
        </p:blipFill>
        <p:spPr>
          <a:xfrm>
            <a:off x="6969175" y="4319250"/>
            <a:ext cx="810900" cy="73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0688" y="4466350"/>
            <a:ext cx="1277302" cy="37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4" name="Google Shape;24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" name="Google Shape;42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3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7" name="Google Shape;47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4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50" name="Google Shape;50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51" name="Google Shape;5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5" name="Google Shape;55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5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5"/>
          <p:cNvSpPr txBox="1"/>
          <p:nvPr/>
        </p:nvSpPr>
        <p:spPr>
          <a:xfrm>
            <a:off x="1409625" y="1455425"/>
            <a:ext cx="37395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Except where otherwise indicated, The contents of this slide presentation are available for use under the </a:t>
            </a:r>
            <a:r>
              <a:rPr lang="en" u="sng">
                <a:solidFill>
                  <a:srgbClr val="7890CD"/>
                </a:solid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license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You are free to adapt and share the work, but you must give appropriate credit, provide a link to the license, and indicate if changes were made.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Sample attribution: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[Title of work] by Johns Hopkins Data Science Lab. </a:t>
            </a:r>
            <a:r>
              <a:rPr lang="en" u="sng">
                <a:solidFill>
                  <a:srgbClr val="7890CD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 4.0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0" name="Google Shape;6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726" y="2173675"/>
            <a:ext cx="2275450" cy="79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6"/>
          <p:cNvSpPr txBox="1"/>
          <p:nvPr>
            <p:ph type="title"/>
          </p:nvPr>
        </p:nvSpPr>
        <p:spPr>
          <a:xfrm>
            <a:off x="1297500" y="393750"/>
            <a:ext cx="78072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7" name="Google Shape;6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6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7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9" name="Google Shape;79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8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2" name="Google Shape;102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1800">
                <a:solidFill>
                  <a:srgbClr val="66666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6" name="Google Shape;106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107" name="Google Shape;10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9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0"/>
          <p:cNvGrpSpPr/>
          <p:nvPr/>
        </p:nvGrpSpPr>
        <p:grpSpPr>
          <a:xfrm>
            <a:off x="43237" y="4724428"/>
            <a:ext cx="428721" cy="393609"/>
            <a:chOff x="0" y="3785672"/>
            <a:chExt cx="698925" cy="684657"/>
          </a:xfrm>
        </p:grpSpPr>
        <p:sp>
          <p:nvSpPr>
            <p:cNvPr id="111" name="Google Shape;11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0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</a:lstStyle>
          <a:p/>
        </p:txBody>
      </p:sp>
      <p:sp>
        <p:nvSpPr>
          <p:cNvPr id="114" name="Google Shape;11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10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8" name="Google Shape;118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7" name="Google Shape;137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8" name="Google Shape;13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11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12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nvil.terra.bio/" TargetMode="External"/><Relationship Id="rId4" Type="http://schemas.openxmlformats.org/officeDocument/2006/relationships/hyperlink" Target="https://anvil.terra.bio/" TargetMode="External"/><Relationship Id="rId5" Type="http://schemas.openxmlformats.org/officeDocument/2006/relationships/hyperlink" Target="https://creativecommons.org/licenses/by/4.0/" TargetMode="External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nvil.terra.bio/" TargetMode="External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nvil.terra.bio/#groups" TargetMode="External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nvil.terra.bio/#workspaces" TargetMode="External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type="ctrTitle"/>
          </p:nvPr>
        </p:nvSpPr>
        <p:spPr>
          <a:xfrm>
            <a:off x="3537150" y="157837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email for Terra Group</a:t>
            </a:r>
            <a:endParaRPr/>
          </a:p>
        </p:txBody>
      </p:sp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2997775" y="3033950"/>
            <a:ext cx="59394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Terms of Use</a:t>
            </a:r>
            <a:endParaRPr/>
          </a:p>
        </p:txBody>
      </p:sp>
      <p:pic>
        <p:nvPicPr>
          <p:cNvPr id="154" name="Google Shape;15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726" y="2173675"/>
            <a:ext cx="2275450" cy="79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https://anvil.terra.bio/</a:t>
            </a:r>
            <a:r>
              <a:rPr lang="en" u="sng">
                <a:solidFill>
                  <a:schemeClr val="hlink"/>
                </a:solidFill>
                <a:hlinkClick r:id="rId4"/>
              </a:rPr>
              <a:t> </a:t>
            </a:r>
            <a:r>
              <a:rPr lang="en"/>
              <a:t> </a:t>
            </a:r>
            <a:r>
              <a:rPr lang="en"/>
              <a:t>homepage  screenshot by Katherine Cox.  </a:t>
            </a: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</p:txBody>
      </p:sp>
      <p:pic>
        <p:nvPicPr>
          <p:cNvPr id="160" name="Google Shape;16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590700"/>
            <a:ext cx="8839204" cy="3962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https://anvil.terra.bio/</a:t>
            </a:r>
            <a:r>
              <a:rPr lang="en"/>
              <a:t> select Groups from drop-down menu screenshot by Katherine Cox.  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</p:txBody>
      </p:sp>
      <p:pic>
        <p:nvPicPr>
          <p:cNvPr id="166" name="Google Shape;16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989538"/>
            <a:ext cx="8839199" cy="316441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/>
          <p:nvPr/>
        </p:nvSpPr>
        <p:spPr>
          <a:xfrm>
            <a:off x="210312" y="1024128"/>
            <a:ext cx="504000" cy="5238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2359828" y="1773936"/>
            <a:ext cx="379500" cy="357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418422" y="2678815"/>
            <a:ext cx="797700" cy="357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/>
        </p:nvSpPr>
        <p:spPr>
          <a:xfrm>
            <a:off x="418425" y="4682350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https://anvil.terra.bio/#groups</a:t>
            </a:r>
            <a:r>
              <a:rPr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Group management in AnVIL screenshot by Katherine Cox.  </a:t>
            </a:r>
            <a:r>
              <a:rPr lang="en" sz="900" u="sng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5" name="Google Shape;17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8839204" cy="429875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/>
          <p:nvPr/>
        </p:nvSpPr>
        <p:spPr>
          <a:xfrm>
            <a:off x="5303375" y="1829400"/>
            <a:ext cx="2252700" cy="318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https://anvil.terra.bio/#workspaces</a:t>
            </a:r>
            <a:r>
              <a:rPr lang="en"/>
              <a:t> share  workspace dialog box screenshot by Katherine Cox. 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</p:txBody>
      </p:sp>
      <p:pic>
        <p:nvPicPr>
          <p:cNvPr id="182" name="Google Shape;18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7350" y="192175"/>
            <a:ext cx="6649311" cy="437754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/>
          <p:nvPr/>
        </p:nvSpPr>
        <p:spPr>
          <a:xfrm>
            <a:off x="2029025" y="1458200"/>
            <a:ext cx="4533000" cy="4641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Contributions</a:t>
            </a:r>
            <a:endParaRPr/>
          </a:p>
        </p:txBody>
      </p:sp>
      <p:sp>
        <p:nvSpPr>
          <p:cNvPr id="189" name="Google Shape;189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Ava Hoffman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Katherine Cox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Frederick Tan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000000"/>
      </a:lt1>
      <a:dk2>
        <a:srgbClr val="000000"/>
      </a:dk2>
      <a:lt2>
        <a:srgbClr val="000000"/>
      </a:lt2>
      <a:accent1>
        <a:srgbClr val="DABF24"/>
      </a:accent1>
      <a:accent2>
        <a:srgbClr val="DABF24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