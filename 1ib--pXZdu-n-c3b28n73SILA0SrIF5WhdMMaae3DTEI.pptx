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will show you how to disable a Terra Billing Project.  </a:t>
            </a:r>
            <a:r>
              <a:rPr lang="en">
                <a:solidFill>
                  <a:schemeClr val="dk1"/>
                </a:solidFill>
              </a:rPr>
              <a:t>Disabling a Billing Project will remove funding from all Workspaces associated with the Billing Project, as well as prevent any new Workspaces from being created with the Billing Project.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Except where otherwise indicated, this content is available for use under CC B Y 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1148e4933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1148e4933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As you might expect, disabling funding to a Workspace means you can no longer compute in the Workspace.  However, it also means that </a:t>
            </a:r>
            <a:r>
              <a:rPr lang="en">
                <a:solidFill>
                  <a:schemeClr val="dk1"/>
                </a:solidFill>
              </a:rPr>
              <a:t>you will be unable to access any files in the Workspace bucket.  If you wish to retain access to any files and data from the Workspace, it is important to make sure you transfer them to another location before disabling the Billing Project that funds the Workspace.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15e284bd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15e284bd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disable billing, first log in to Terra.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16f8d759b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16f8d759b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Click the triple bar in the top left corner to access the drop-down menu. Click the arrow next to your name to expand the menu, then click “Billing”.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6f8d759b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6f8d759b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the Billing page, click “Owned by You” and find the Billing Project.  If you do not see the Billing Project in this list, then you are not an Owner and do not have permission to disable the Billing Project.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edc2edcaf8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1edc2edcaf8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on the name of the Billing Project.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1148e493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1148e493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needed, click on “View billing account” to expand the billing account information.  You may be prompted to enter your login information again.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1148e4933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1148e4933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should see the name of the Google Billing Account that is funding this Billing Project.  Click on the teardrop icon next to the name of the Billing Account.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1148e4933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1148e4933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“Remove Billing Account”.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1148e4933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1148e4933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OK to confirm that you want to disable funding for this Billing Project.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1148e4933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1148e4933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page should now indicate that there is no linked billing account.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1148e4933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1148e4933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If necessary, you can restore funding to the Billing Project and associated Workspaces by clicking the teardrop icon and selecting “Change Billing Account”.  However, Google makes no promises about how long the Workspace contents will remain available after you disable funding, so it is best not to rely on them.</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edc2edcaf8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edc2edcaf8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to everyone who contributed!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6052847" y="4331125"/>
            <a:ext cx="810900" cy="713825"/>
          </a:xfrm>
          <a:prstGeom prst="rect">
            <a:avLst/>
          </a:prstGeom>
          <a:noFill/>
          <a:ln>
            <a:noFill/>
          </a:ln>
        </p:spPr>
      </p:pic>
      <p:pic>
        <p:nvPicPr>
          <p:cNvPr id="20" name="Google Shape;20;p2"/>
          <p:cNvPicPr preferRelativeResize="0"/>
          <p:nvPr/>
        </p:nvPicPr>
        <p:blipFill rotWithShape="1">
          <a:blip r:embed="rId3">
            <a:alphaModFix/>
          </a:blip>
          <a:srcRect b="0" l="17840" r="20320" t="0"/>
          <a:stretch/>
        </p:blipFill>
        <p:spPr>
          <a:xfrm>
            <a:off x="6969175" y="4319250"/>
            <a:ext cx="810900" cy="737575"/>
          </a:xfrm>
          <a:prstGeom prst="rect">
            <a:avLst/>
          </a:prstGeom>
          <a:noFill/>
          <a:ln>
            <a:noFill/>
          </a:ln>
        </p:spPr>
      </p:pic>
      <p:pic>
        <p:nvPicPr>
          <p:cNvPr id="21" name="Google Shape;21;p2"/>
          <p:cNvPicPr preferRelativeResize="0"/>
          <p:nvPr/>
        </p:nvPicPr>
        <p:blipFill>
          <a:blip r:embed="rId4">
            <a:alphaModFix/>
          </a:blip>
          <a:stretch>
            <a:fillRect/>
          </a:stretch>
        </p:blipFill>
        <p:spPr>
          <a:xfrm>
            <a:off x="7790688" y="4466350"/>
            <a:ext cx="1277302" cy="372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3"/>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4"/>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grpSp>
        <p:nvGrpSpPr>
          <p:cNvPr id="54" name="Google Shape;54;p5"/>
          <p:cNvGrpSpPr/>
          <p:nvPr/>
        </p:nvGrpSpPr>
        <p:grpSpPr>
          <a:xfrm>
            <a:off x="0" y="381001"/>
            <a:ext cx="1037850" cy="1016287"/>
            <a:chOff x="0" y="381001"/>
            <a:chExt cx="1037850" cy="1016287"/>
          </a:xfrm>
        </p:grpSpPr>
        <p:sp>
          <p:nvSpPr>
            <p:cNvPr id="55" name="Google Shape;55;p5"/>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Johns Hopkins Data Science Lab.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60" name="Google Shape;60;p5"/>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1" name="Google Shape;61;p5"/>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7" name="Google Shape;6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6"/>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grpSp>
        <p:nvGrpSpPr>
          <p:cNvPr id="70" name="Google Shape;70;p7"/>
          <p:cNvGrpSpPr/>
          <p:nvPr/>
        </p:nvGrpSpPr>
        <p:grpSpPr>
          <a:xfrm>
            <a:off x="0" y="381001"/>
            <a:ext cx="1037850" cy="1016287"/>
            <a:chOff x="0" y="381001"/>
            <a:chExt cx="1037850" cy="1016287"/>
          </a:xfrm>
        </p:grpSpPr>
        <p:sp>
          <p:nvSpPr>
            <p:cNvPr id="71" name="Google Shape;71;p7"/>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grpSp>
        <p:nvGrpSpPr>
          <p:cNvPr id="78" name="Google Shape;78;p8"/>
          <p:cNvGrpSpPr/>
          <p:nvPr/>
        </p:nvGrpSpPr>
        <p:grpSpPr>
          <a:xfrm>
            <a:off x="4406400" y="0"/>
            <a:ext cx="4737600" cy="5143500"/>
            <a:chOff x="4406400" y="0"/>
            <a:chExt cx="4737600" cy="5143500"/>
          </a:xfrm>
        </p:grpSpPr>
        <p:sp>
          <p:nvSpPr>
            <p:cNvPr id="79" name="Google Shape;79;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6908099" y="2069680"/>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7227414" y="3711189"/>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8"/>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grpSp>
        <p:nvGrpSpPr>
          <p:cNvPr id="101" name="Google Shape;101;p9"/>
          <p:cNvGrpSpPr/>
          <p:nvPr/>
        </p:nvGrpSpPr>
        <p:grpSpPr>
          <a:xfrm>
            <a:off x="0" y="381001"/>
            <a:ext cx="1037850" cy="1016287"/>
            <a:chOff x="0" y="381001"/>
            <a:chExt cx="1037850" cy="1016287"/>
          </a:xfrm>
        </p:grpSpPr>
        <p:sp>
          <p:nvSpPr>
            <p:cNvPr id="102" name="Google Shape;102;p9"/>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5" name="Google Shape;105;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06" name="Google Shape;106;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07" name="Google Shape;10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9"/>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grpSp>
        <p:nvGrpSpPr>
          <p:cNvPr id="110" name="Google Shape;110;p10"/>
          <p:cNvGrpSpPr/>
          <p:nvPr/>
        </p:nvGrpSpPr>
        <p:grpSpPr>
          <a:xfrm>
            <a:off x="43237" y="4724428"/>
            <a:ext cx="428721" cy="393609"/>
            <a:chOff x="0" y="3785672"/>
            <a:chExt cx="698925" cy="684657"/>
          </a:xfrm>
        </p:grpSpPr>
        <p:sp>
          <p:nvSpPr>
            <p:cNvPr id="111" name="Google Shape;11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14" name="Google Shape;11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0"/>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grpSp>
        <p:nvGrpSpPr>
          <p:cNvPr id="117" name="Google Shape;117;p11"/>
          <p:cNvGrpSpPr/>
          <p:nvPr/>
        </p:nvGrpSpPr>
        <p:grpSpPr>
          <a:xfrm>
            <a:off x="4406400" y="0"/>
            <a:ext cx="4737600" cy="5143065"/>
            <a:chOff x="4406400" y="0"/>
            <a:chExt cx="4737600" cy="5143065"/>
          </a:xfrm>
        </p:grpSpPr>
        <p:sp>
          <p:nvSpPr>
            <p:cNvPr id="118" name="Google Shape;11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37" name="Google Shape;13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38" name="Google Shape;13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12"/>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anvil.terra.bio/" TargetMode="External"/><Relationship Id="rId4" Type="http://schemas.openxmlformats.org/officeDocument/2006/relationships/hyperlink" Target="https://anvil.terra.bio/" TargetMode="External"/><Relationship Id="rId5" Type="http://schemas.openxmlformats.org/officeDocument/2006/relationships/hyperlink" Target="https://creativecommons.org/licenses/by/4.0/" TargetMode="External"/><Relationship Id="rId6"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hyperlink" Target="https://anvil.terra.bio/" TargetMode="External"/><Relationship Id="rId4" Type="http://schemas.openxmlformats.org/officeDocument/2006/relationships/hyperlink" Target="https://creativecommons.org/licenses/by/4.0/" TargetMode="External"/><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7.png"/><Relationship Id="rId6"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7.png"/><Relationship Id="rId6"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Disable Terra</a:t>
            </a:r>
            <a:endParaRPr/>
          </a:p>
          <a:p>
            <a:pPr indent="0" lvl="0" marL="0" rtl="0" algn="ctr">
              <a:spcBef>
                <a:spcPts val="0"/>
              </a:spcBef>
              <a:spcAft>
                <a:spcPts val="0"/>
              </a:spcAft>
              <a:buNone/>
            </a:pPr>
            <a:r>
              <a:rPr lang="en"/>
              <a:t>Billing Project</a:t>
            </a:r>
            <a:endParaRPr/>
          </a:p>
        </p:txBody>
      </p:sp>
      <p:sp>
        <p:nvSpPr>
          <p:cNvPr id="148" name="Google Shape;148;p1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54" name="Google Shape;154;p14"/>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type="title"/>
          </p:nvPr>
        </p:nvSpPr>
        <p:spPr>
          <a:xfrm>
            <a:off x="1219450" y="1600700"/>
            <a:ext cx="4587000" cy="20946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Compute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Access files and data</a:t>
            </a:r>
            <a:endParaRPr/>
          </a:p>
        </p:txBody>
      </p:sp>
      <p:sp>
        <p:nvSpPr>
          <p:cNvPr id="160" name="Google Shape;160;p15"/>
          <p:cNvSpPr/>
          <p:nvPr/>
        </p:nvSpPr>
        <p:spPr>
          <a:xfrm>
            <a:off x="715750" y="1961950"/>
            <a:ext cx="503700" cy="477300"/>
          </a:xfrm>
          <a:prstGeom prst="noSmoking">
            <a:avLst>
              <a:gd fmla="val 18750"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
          <p:cNvSpPr/>
          <p:nvPr/>
        </p:nvSpPr>
        <p:spPr>
          <a:xfrm>
            <a:off x="715750" y="2856700"/>
            <a:ext cx="503700" cy="477300"/>
          </a:xfrm>
          <a:prstGeom prst="noSmoking">
            <a:avLst>
              <a:gd fmla="val 18750" name="adj"/>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5"/>
          <p:cNvSpPr txBox="1"/>
          <p:nvPr>
            <p:ph type="title"/>
          </p:nvPr>
        </p:nvSpPr>
        <p:spPr>
          <a:xfrm>
            <a:off x="298075" y="517000"/>
            <a:ext cx="5269500" cy="1179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600"/>
              <a:t>Unfunded Workspace</a:t>
            </a:r>
            <a:endParaRPr sz="3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u="sng">
                <a:solidFill>
                  <a:schemeClr val="hlink"/>
                </a:solidFill>
                <a:hlinkClick r:id="rId3"/>
              </a:rPr>
              <a:t>https://anvil.terra.bio/</a:t>
            </a:r>
            <a:r>
              <a:rPr lang="en" u="sng">
                <a:solidFill>
                  <a:schemeClr val="hlink"/>
                </a:solidFill>
                <a:hlinkClick r:id="rId4"/>
              </a:rPr>
              <a:t> </a:t>
            </a:r>
            <a:r>
              <a:rPr lang="en"/>
              <a:t> </a:t>
            </a:r>
            <a:r>
              <a:rPr lang="en"/>
              <a:t>homepage  screenshot by Katherine Cox.  </a:t>
            </a:r>
            <a:r>
              <a:rPr lang="en" u="sng">
                <a:solidFill>
                  <a:schemeClr val="accent5"/>
                </a:solidFill>
                <a:hlinkClick r:id="rId5">
                  <a:extLst>
                    <a:ext uri="{A12FA001-AC4F-418D-AE19-62706E023703}">
                      <ahyp:hlinkClr val="tx"/>
                    </a:ext>
                  </a:extLst>
                </a:hlinkClick>
              </a:rPr>
              <a:t>CC-BY-4.0</a:t>
            </a:r>
            <a:endParaRPr/>
          </a:p>
        </p:txBody>
      </p:sp>
      <p:pic>
        <p:nvPicPr>
          <p:cNvPr id="168" name="Google Shape;168;p16"/>
          <p:cNvPicPr preferRelativeResize="0"/>
          <p:nvPr/>
        </p:nvPicPr>
        <p:blipFill>
          <a:blip r:embed="rId6">
            <a:alphaModFix/>
          </a:blip>
          <a:stretch>
            <a:fillRect/>
          </a:stretch>
        </p:blipFill>
        <p:spPr>
          <a:xfrm>
            <a:off x="152400" y="590700"/>
            <a:ext cx="8839204" cy="39621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https://anvil.terra.bio/</a:t>
            </a:r>
            <a:r>
              <a:rPr lang="en"/>
              <a:t> select Billing from drop-down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74" name="Google Shape;174;p17"/>
          <p:cNvPicPr preferRelativeResize="0"/>
          <p:nvPr/>
        </p:nvPicPr>
        <p:blipFill>
          <a:blip r:embed="rId5">
            <a:alphaModFix/>
          </a:blip>
          <a:stretch>
            <a:fillRect/>
          </a:stretch>
        </p:blipFill>
        <p:spPr>
          <a:xfrm>
            <a:off x="152400" y="989538"/>
            <a:ext cx="8839199" cy="3164414"/>
          </a:xfrm>
          <a:prstGeom prst="rect">
            <a:avLst/>
          </a:prstGeom>
          <a:noFill/>
          <a:ln>
            <a:noFill/>
          </a:ln>
        </p:spPr>
      </p:pic>
      <p:sp>
        <p:nvSpPr>
          <p:cNvPr id="175" name="Google Shape;175;p17"/>
          <p:cNvSpPr/>
          <p:nvPr/>
        </p:nvSpPr>
        <p:spPr>
          <a:xfrm>
            <a:off x="210312" y="1024128"/>
            <a:ext cx="504000" cy="523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7"/>
          <p:cNvSpPr/>
          <p:nvPr/>
        </p:nvSpPr>
        <p:spPr>
          <a:xfrm>
            <a:off x="2359828" y="1773936"/>
            <a:ext cx="3795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7"/>
          <p:cNvSpPr/>
          <p:nvPr/>
        </p:nvSpPr>
        <p:spPr>
          <a:xfrm>
            <a:off x="418422" y="3063240"/>
            <a:ext cx="7977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8"/>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https://anvil.terra.bio/#billing</a:t>
            </a:r>
            <a:r>
              <a:rPr lang="en"/>
              <a:t> Billing Projects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3" name="Google Shape;183;p18"/>
          <p:cNvPicPr preferRelativeResize="0"/>
          <p:nvPr/>
        </p:nvPicPr>
        <p:blipFill>
          <a:blip r:embed="rId5">
            <a:alphaModFix/>
          </a:blip>
          <a:stretch>
            <a:fillRect/>
          </a:stretch>
        </p:blipFill>
        <p:spPr>
          <a:xfrm>
            <a:off x="1124250" y="152400"/>
            <a:ext cx="6895508" cy="4377550"/>
          </a:xfrm>
          <a:prstGeom prst="rect">
            <a:avLst/>
          </a:prstGeom>
          <a:noFill/>
          <a:ln>
            <a:noFill/>
          </a:ln>
        </p:spPr>
      </p:pic>
      <p:sp>
        <p:nvSpPr>
          <p:cNvPr id="184" name="Google Shape;184;p18"/>
          <p:cNvSpPr/>
          <p:nvPr/>
        </p:nvSpPr>
        <p:spPr>
          <a:xfrm>
            <a:off x="1390283" y="2055775"/>
            <a:ext cx="33993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9"/>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https://anvil.terra.bio/#billing</a:t>
            </a:r>
            <a:r>
              <a:rPr lang="en"/>
              <a:t> Billing Projects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90" name="Google Shape;190;p19"/>
          <p:cNvPicPr preferRelativeResize="0"/>
          <p:nvPr/>
        </p:nvPicPr>
        <p:blipFill>
          <a:blip r:embed="rId5">
            <a:alphaModFix/>
          </a:blip>
          <a:stretch>
            <a:fillRect/>
          </a:stretch>
        </p:blipFill>
        <p:spPr>
          <a:xfrm>
            <a:off x="1124250" y="192175"/>
            <a:ext cx="6895508" cy="4377550"/>
          </a:xfrm>
          <a:prstGeom prst="rect">
            <a:avLst/>
          </a:prstGeom>
          <a:noFill/>
          <a:ln>
            <a:noFill/>
          </a:ln>
        </p:spPr>
      </p:pic>
      <p:sp>
        <p:nvSpPr>
          <p:cNvPr id="191" name="Google Shape;191;p19"/>
          <p:cNvSpPr/>
          <p:nvPr/>
        </p:nvSpPr>
        <p:spPr>
          <a:xfrm>
            <a:off x="1536097" y="2665575"/>
            <a:ext cx="30414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https://anvil.terra.bio/#billing</a:t>
            </a:r>
            <a:r>
              <a:rPr lang="en"/>
              <a:t> Billing Project overview  page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97" name="Google Shape;197;p20"/>
          <p:cNvPicPr preferRelativeResize="0"/>
          <p:nvPr/>
        </p:nvPicPr>
        <p:blipFill rotWithShape="1">
          <a:blip r:embed="rId5">
            <a:alphaModFix/>
          </a:blip>
          <a:srcRect b="38661" l="0" r="34929" t="0"/>
          <a:stretch/>
        </p:blipFill>
        <p:spPr>
          <a:xfrm>
            <a:off x="152400" y="152400"/>
            <a:ext cx="8882924" cy="4076399"/>
          </a:xfrm>
          <a:prstGeom prst="rect">
            <a:avLst/>
          </a:prstGeom>
          <a:noFill/>
          <a:ln>
            <a:noFill/>
          </a:ln>
        </p:spPr>
      </p:pic>
      <p:sp>
        <p:nvSpPr>
          <p:cNvPr id="198" name="Google Shape;198;p20"/>
          <p:cNvSpPr/>
          <p:nvPr/>
        </p:nvSpPr>
        <p:spPr>
          <a:xfrm>
            <a:off x="3732524" y="1313425"/>
            <a:ext cx="17424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https://anvil.terra.bio/#billing</a:t>
            </a:r>
            <a:r>
              <a:rPr lang="en"/>
              <a:t> Billing Project manage Billing Account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04" name="Google Shape;204;p21"/>
          <p:cNvPicPr preferRelativeResize="0"/>
          <p:nvPr/>
        </p:nvPicPr>
        <p:blipFill rotWithShape="1">
          <a:blip r:embed="rId5">
            <a:alphaModFix/>
          </a:blip>
          <a:srcRect b="32926" l="0" r="34708" t="0"/>
          <a:stretch/>
        </p:blipFill>
        <p:spPr>
          <a:xfrm>
            <a:off x="152400" y="152400"/>
            <a:ext cx="8848727" cy="4421025"/>
          </a:xfrm>
          <a:prstGeom prst="rect">
            <a:avLst/>
          </a:prstGeom>
          <a:noFill/>
          <a:ln>
            <a:noFill/>
          </a:ln>
        </p:spPr>
      </p:pic>
      <p:sp>
        <p:nvSpPr>
          <p:cNvPr id="205" name="Google Shape;205;p21"/>
          <p:cNvSpPr/>
          <p:nvPr/>
        </p:nvSpPr>
        <p:spPr>
          <a:xfrm>
            <a:off x="6264525" y="1313425"/>
            <a:ext cx="2577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2"/>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https://anvil.terra.bio/#billing</a:t>
            </a:r>
            <a:r>
              <a:rPr lang="en"/>
              <a:t> Billing Project Remove  Billing Account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11" name="Google Shape;211;p22"/>
          <p:cNvPicPr preferRelativeResize="0"/>
          <p:nvPr/>
        </p:nvPicPr>
        <p:blipFill rotWithShape="1">
          <a:blip r:embed="rId5">
            <a:alphaModFix/>
          </a:blip>
          <a:srcRect b="32069" l="0" r="34537" t="0"/>
          <a:stretch/>
        </p:blipFill>
        <p:spPr>
          <a:xfrm>
            <a:off x="152400" y="152400"/>
            <a:ext cx="8856801" cy="4474100"/>
          </a:xfrm>
          <a:prstGeom prst="rect">
            <a:avLst/>
          </a:prstGeom>
          <a:noFill/>
          <a:ln>
            <a:noFill/>
          </a:ln>
        </p:spPr>
      </p:pic>
      <p:sp>
        <p:nvSpPr>
          <p:cNvPr id="212" name="Google Shape;212;p22"/>
          <p:cNvSpPr/>
          <p:nvPr/>
        </p:nvSpPr>
        <p:spPr>
          <a:xfrm>
            <a:off x="5482399" y="2082275"/>
            <a:ext cx="18087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https://anvil.terra.bio/#billing</a:t>
            </a:r>
            <a:r>
              <a:rPr lang="en"/>
              <a:t> Billing Project Remove  Billing Account confirmation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18" name="Google Shape;218;p23"/>
          <p:cNvPicPr preferRelativeResize="0"/>
          <p:nvPr/>
        </p:nvPicPr>
        <p:blipFill>
          <a:blip r:embed="rId5">
            <a:alphaModFix/>
          </a:blip>
          <a:stretch>
            <a:fillRect/>
          </a:stretch>
        </p:blipFill>
        <p:spPr>
          <a:xfrm>
            <a:off x="152400" y="152400"/>
            <a:ext cx="8839199" cy="4035287"/>
          </a:xfrm>
          <a:prstGeom prst="rect">
            <a:avLst/>
          </a:prstGeom>
          <a:noFill/>
          <a:ln>
            <a:noFill/>
          </a:ln>
        </p:spPr>
      </p:pic>
      <p:sp>
        <p:nvSpPr>
          <p:cNvPr id="219" name="Google Shape;219;p23"/>
          <p:cNvSpPr/>
          <p:nvPr/>
        </p:nvSpPr>
        <p:spPr>
          <a:xfrm>
            <a:off x="6821300" y="2148575"/>
            <a:ext cx="768000" cy="523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https://anvil.terra.bio/#billing</a:t>
            </a:r>
            <a:r>
              <a:rPr lang="en"/>
              <a:t> Billing Project with no Billing Account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25" name="Google Shape;225;p24"/>
          <p:cNvPicPr preferRelativeResize="0"/>
          <p:nvPr/>
        </p:nvPicPr>
        <p:blipFill rotWithShape="1">
          <a:blip r:embed="rId5">
            <a:alphaModFix/>
          </a:blip>
          <a:srcRect b="32926" l="0" r="34708" t="0"/>
          <a:stretch/>
        </p:blipFill>
        <p:spPr>
          <a:xfrm>
            <a:off x="152400" y="152400"/>
            <a:ext cx="8848727" cy="4421025"/>
          </a:xfrm>
          <a:prstGeom prst="rect">
            <a:avLst/>
          </a:prstGeom>
          <a:noFill/>
          <a:ln>
            <a:noFill/>
          </a:ln>
        </p:spPr>
      </p:pic>
      <p:pic>
        <p:nvPicPr>
          <p:cNvPr id="226" name="Google Shape;226;p24"/>
          <p:cNvPicPr preferRelativeResize="0"/>
          <p:nvPr/>
        </p:nvPicPr>
        <p:blipFill>
          <a:blip r:embed="rId6">
            <a:alphaModFix/>
          </a:blip>
          <a:stretch>
            <a:fillRect/>
          </a:stretch>
        </p:blipFill>
        <p:spPr>
          <a:xfrm>
            <a:off x="5092525" y="1377500"/>
            <a:ext cx="2165525" cy="240650"/>
          </a:xfrm>
          <a:prstGeom prst="rect">
            <a:avLst/>
          </a:prstGeom>
          <a:noFill/>
          <a:ln>
            <a:noFill/>
          </a:ln>
        </p:spPr>
      </p:pic>
      <p:sp>
        <p:nvSpPr>
          <p:cNvPr id="227" name="Google Shape;227;p24"/>
          <p:cNvSpPr/>
          <p:nvPr/>
        </p:nvSpPr>
        <p:spPr>
          <a:xfrm>
            <a:off x="5016325" y="1319325"/>
            <a:ext cx="19935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https://anvil.terra.bio/#billing</a:t>
            </a:r>
            <a:r>
              <a:rPr lang="en"/>
              <a:t> Billing Project manage Billing Account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33" name="Google Shape;233;p25"/>
          <p:cNvPicPr preferRelativeResize="0"/>
          <p:nvPr/>
        </p:nvPicPr>
        <p:blipFill rotWithShape="1">
          <a:blip r:embed="rId5">
            <a:alphaModFix/>
          </a:blip>
          <a:srcRect b="32926" l="0" r="34708" t="0"/>
          <a:stretch/>
        </p:blipFill>
        <p:spPr>
          <a:xfrm>
            <a:off x="152400" y="152400"/>
            <a:ext cx="8848727" cy="4421025"/>
          </a:xfrm>
          <a:prstGeom prst="rect">
            <a:avLst/>
          </a:prstGeom>
          <a:noFill/>
          <a:ln>
            <a:noFill/>
          </a:ln>
        </p:spPr>
      </p:pic>
      <p:pic>
        <p:nvPicPr>
          <p:cNvPr id="234" name="Google Shape;234;p25"/>
          <p:cNvPicPr preferRelativeResize="0"/>
          <p:nvPr/>
        </p:nvPicPr>
        <p:blipFill>
          <a:blip r:embed="rId6">
            <a:alphaModFix/>
          </a:blip>
          <a:stretch>
            <a:fillRect/>
          </a:stretch>
        </p:blipFill>
        <p:spPr>
          <a:xfrm>
            <a:off x="5092525" y="1377500"/>
            <a:ext cx="2165525" cy="240650"/>
          </a:xfrm>
          <a:prstGeom prst="rect">
            <a:avLst/>
          </a:prstGeom>
          <a:noFill/>
          <a:ln>
            <a:noFill/>
          </a:ln>
        </p:spPr>
      </p:pic>
      <p:sp>
        <p:nvSpPr>
          <p:cNvPr id="235" name="Google Shape;235;p25"/>
          <p:cNvSpPr/>
          <p:nvPr/>
        </p:nvSpPr>
        <p:spPr>
          <a:xfrm>
            <a:off x="7000350" y="1319325"/>
            <a:ext cx="2577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Contributions</a:t>
            </a:r>
            <a:endParaRPr/>
          </a:p>
        </p:txBody>
      </p:sp>
      <p:sp>
        <p:nvSpPr>
          <p:cNvPr id="241" name="Google Shape;241;p2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a:t>Katherine Cox</a:t>
            </a:r>
            <a:endParaRPr/>
          </a:p>
          <a:p>
            <a:pPr indent="-349250" lvl="0" marL="457200" rtl="0" algn="l">
              <a:spcBef>
                <a:spcPts val="0"/>
              </a:spcBef>
              <a:spcAft>
                <a:spcPts val="0"/>
              </a:spcAft>
              <a:buSzPts val="1900"/>
              <a:buChar char="-"/>
            </a:pPr>
            <a:r>
              <a:rPr lang="en"/>
              <a:t>Ava Hoffman</a:t>
            </a:r>
            <a:endParaRPr/>
          </a:p>
          <a:p>
            <a:pPr indent="-349250" lvl="0" marL="457200" rtl="0" algn="l">
              <a:spcBef>
                <a:spcPts val="0"/>
              </a:spcBef>
              <a:spcAft>
                <a:spcPts val="0"/>
              </a:spcAft>
              <a:buSzPts val="1900"/>
              <a:buChar char="-"/>
            </a:pPr>
            <a:r>
              <a:rPr lang="en"/>
              <a:t>Allie Cliffe</a:t>
            </a:r>
            <a:endParaRPr/>
          </a:p>
          <a:p>
            <a:pPr indent="-349250" lvl="0" marL="457200" rtl="0" algn="l">
              <a:spcBef>
                <a:spcPts val="0"/>
              </a:spcBef>
              <a:spcAft>
                <a:spcPts val="0"/>
              </a:spcAft>
              <a:buSzPts val="1900"/>
              <a:buChar char="-"/>
            </a:pPr>
            <a:r>
              <a:rPr lang="en"/>
              <a:t>Frederick Tan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DABF24"/>
      </a:accent1>
      <a:accent2>
        <a:srgbClr val="DABF24"/>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