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create a Billing Account on Google Cloud Platform.  A GCP Billing Account is necessary to run analyses on AnVIL.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6ca06e2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6ca06e2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To get started, l</a:t>
            </a:r>
            <a:r>
              <a:rPr lang="en"/>
              <a:t>og in to the Google Cloud Platform console using your Google ID. Make sure to use the same Google account ID you use to log into Terra.</a:t>
            </a:r>
            <a:r>
              <a:rPr lang="en"/>
              <a:t>  If you are a first time user, don’t forget to claim your free credits! If you haven’t been to the console before, once you accept the Terms of Service you will be greeted with an invitation to “Try for Free.”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6ca06e27d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16ca06e27d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Follow the instructions to sign up for a Billing Account and get your cloud credits.  Select “Individual Account”. This “billing account” is just for managing billing, so you don’t need to be able to add your lab members. You will need to give either a credit card or bank account for security. Don’t worry! You won’t be billed until you explicitly turn on automatic billing.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6ca06e27d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6ca06e27d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view and edit your new Billing Account by selecting “Billing” from the left-hand menu.</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16ca06e27d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16ca06e27d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Clicking on the Billing Account name will allow you to manage the account, including accessing reports, setting alerts, and managing payments and billing.  You can create additional Billing Accounts </a:t>
            </a:r>
            <a:r>
              <a:rPr lang="en">
                <a:solidFill>
                  <a:schemeClr val="dk1"/>
                </a:solidFill>
              </a:rPr>
              <a:t>a</a:t>
            </a:r>
            <a:r>
              <a:rPr lang="en">
                <a:solidFill>
                  <a:schemeClr val="dk1"/>
                </a:solidFill>
              </a:rPr>
              <a:t>t any point</a:t>
            </a:r>
            <a:r>
              <a:rPr lang="en"/>
              <a:t> using the Create Account button. We generally recommend creating a new Billing Account for each funding source.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console.cloud.google.com/"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console.cloud.google.com/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Create</a:t>
            </a:r>
            <a:r>
              <a:rPr lang="en"/>
              <a:t> </a:t>
            </a:r>
            <a:r>
              <a:rPr lang="en"/>
              <a:t>GCP </a:t>
            </a:r>
            <a:endParaRPr/>
          </a:p>
          <a:p>
            <a:pPr indent="0" lvl="0" marL="0" rtl="0" algn="ctr">
              <a:spcBef>
                <a:spcPts val="0"/>
              </a:spcBef>
              <a:spcAft>
                <a:spcPts val="0"/>
              </a:spcAft>
              <a:buNone/>
            </a:pPr>
            <a:r>
              <a:rPr lang="en"/>
              <a:t>Billing Account</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 </a:t>
            </a:r>
            <a:r>
              <a:rPr lang="en" u="sng">
                <a:solidFill>
                  <a:schemeClr val="hlink"/>
                </a:solidFill>
                <a:hlinkClick r:id="rId3"/>
              </a:rPr>
              <a:t>https://console.cloud.google.com/</a:t>
            </a:r>
            <a:r>
              <a:rPr lang="en"/>
              <a:t>  free trial screenshot by Katherine Cox.  </a:t>
            </a:r>
            <a:r>
              <a:rPr lang="en" u="sng">
                <a:solidFill>
                  <a:schemeClr val="hlink"/>
                </a:solidFill>
                <a:hlinkClick r:id="rId4"/>
              </a:rPr>
              <a:t>CC-BY-4.0</a:t>
            </a:r>
            <a:endParaRPr/>
          </a:p>
        </p:txBody>
      </p:sp>
      <p:grpSp>
        <p:nvGrpSpPr>
          <p:cNvPr id="160" name="Google Shape;160;p15"/>
          <p:cNvGrpSpPr/>
          <p:nvPr/>
        </p:nvGrpSpPr>
        <p:grpSpPr>
          <a:xfrm>
            <a:off x="152400" y="1555325"/>
            <a:ext cx="8839204" cy="2032844"/>
            <a:chOff x="152400" y="2649500"/>
            <a:chExt cx="8839204" cy="2032844"/>
          </a:xfrm>
        </p:grpSpPr>
        <p:pic>
          <p:nvPicPr>
            <p:cNvPr id="161" name="Google Shape;161;p15"/>
            <p:cNvPicPr preferRelativeResize="0"/>
            <p:nvPr/>
          </p:nvPicPr>
          <p:blipFill>
            <a:blip r:embed="rId5">
              <a:alphaModFix/>
            </a:blip>
            <a:stretch>
              <a:fillRect/>
            </a:stretch>
          </p:blipFill>
          <p:spPr>
            <a:xfrm>
              <a:off x="152400" y="2649500"/>
              <a:ext cx="8839204" cy="2032844"/>
            </a:xfrm>
            <a:prstGeom prst="rect">
              <a:avLst/>
            </a:prstGeom>
            <a:noFill/>
            <a:ln>
              <a:noFill/>
            </a:ln>
          </p:spPr>
        </p:pic>
        <p:sp>
          <p:nvSpPr>
            <p:cNvPr id="162" name="Google Shape;162;p15"/>
            <p:cNvSpPr/>
            <p:nvPr/>
          </p:nvSpPr>
          <p:spPr>
            <a:xfrm>
              <a:off x="5163500" y="4158150"/>
              <a:ext cx="795600" cy="32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free trial setup screenshot by Katherine Cox.  </a:t>
            </a:r>
            <a:r>
              <a:rPr lang="en" u="sng">
                <a:solidFill>
                  <a:schemeClr val="accent5"/>
                </a:solidFill>
                <a:hlinkClick r:id="rId4">
                  <a:extLst>
                    <a:ext uri="{A12FA001-AC4F-418D-AE19-62706E023703}">
                      <ahyp:hlinkClr val="tx"/>
                    </a:ext>
                  </a:extLst>
                </a:hlinkClick>
              </a:rPr>
              <a:t>CC-BY-4.0</a:t>
            </a:r>
            <a:endParaRPr/>
          </a:p>
        </p:txBody>
      </p:sp>
      <p:grpSp>
        <p:nvGrpSpPr>
          <p:cNvPr id="168" name="Google Shape;168;p16"/>
          <p:cNvGrpSpPr/>
          <p:nvPr/>
        </p:nvGrpSpPr>
        <p:grpSpPr>
          <a:xfrm>
            <a:off x="152400" y="1074088"/>
            <a:ext cx="8839204" cy="2995316"/>
            <a:chOff x="152400" y="152400"/>
            <a:chExt cx="8839204" cy="2995316"/>
          </a:xfrm>
        </p:grpSpPr>
        <p:pic>
          <p:nvPicPr>
            <p:cNvPr id="169" name="Google Shape;169;p16"/>
            <p:cNvPicPr preferRelativeResize="0"/>
            <p:nvPr/>
          </p:nvPicPr>
          <p:blipFill>
            <a:blip r:embed="rId5">
              <a:alphaModFix/>
            </a:blip>
            <a:stretch>
              <a:fillRect/>
            </a:stretch>
          </p:blipFill>
          <p:spPr>
            <a:xfrm>
              <a:off x="152400" y="152400"/>
              <a:ext cx="8839204" cy="2995316"/>
            </a:xfrm>
            <a:prstGeom prst="rect">
              <a:avLst/>
            </a:prstGeom>
            <a:noFill/>
            <a:ln>
              <a:noFill/>
            </a:ln>
          </p:spPr>
        </p:pic>
        <p:sp>
          <p:nvSpPr>
            <p:cNvPr id="170" name="Google Shape;170;p16"/>
            <p:cNvSpPr/>
            <p:nvPr/>
          </p:nvSpPr>
          <p:spPr>
            <a:xfrm>
              <a:off x="593050" y="1708200"/>
              <a:ext cx="795600" cy="32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5637375" y="2168100"/>
              <a:ext cx="3140100" cy="979500"/>
            </a:xfrm>
            <a:prstGeom prst="rect">
              <a:avLst/>
            </a:prstGeom>
            <a:noFill/>
            <a:ln cap="flat" cmpd="sng" w="3810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a:t> </a:t>
            </a:r>
            <a:r>
              <a:rPr lang="en" u="sng">
                <a:solidFill>
                  <a:schemeClr val="accent5"/>
                </a:solidFill>
                <a:hlinkClick r:id="rId3">
                  <a:extLst>
                    <a:ext uri="{A12FA001-AC4F-418D-AE19-62706E023703}">
                      <ahyp:hlinkClr val="tx"/>
                    </a:ext>
                  </a:extLst>
                </a:hlinkClick>
              </a:rPr>
              <a:t>https://console.cloud.google.com/</a:t>
            </a:r>
            <a:r>
              <a:rPr lang="en"/>
              <a:t> select billing from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7" name="Google Shape;177;p17"/>
          <p:cNvPicPr preferRelativeResize="0"/>
          <p:nvPr/>
        </p:nvPicPr>
        <p:blipFill>
          <a:blip r:embed="rId5">
            <a:alphaModFix/>
          </a:blip>
          <a:stretch>
            <a:fillRect/>
          </a:stretch>
        </p:blipFill>
        <p:spPr>
          <a:xfrm>
            <a:off x="152400" y="1598488"/>
            <a:ext cx="8839204" cy="1946524"/>
          </a:xfrm>
          <a:prstGeom prst="rect">
            <a:avLst/>
          </a:prstGeom>
          <a:noFill/>
          <a:ln>
            <a:noFill/>
          </a:ln>
        </p:spPr>
      </p:pic>
      <p:sp>
        <p:nvSpPr>
          <p:cNvPr id="178" name="Google Shape;178;p17"/>
          <p:cNvSpPr/>
          <p:nvPr/>
        </p:nvSpPr>
        <p:spPr>
          <a:xfrm>
            <a:off x="215675" y="2657838"/>
            <a:ext cx="795600" cy="3237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https://console.cloud.google.com/billing</a:t>
            </a:r>
            <a:r>
              <a:rPr lang="en"/>
              <a: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4" name="Google Shape;184;p18"/>
          <p:cNvPicPr preferRelativeResize="0"/>
          <p:nvPr/>
        </p:nvPicPr>
        <p:blipFill>
          <a:blip r:embed="rId5">
            <a:alphaModFix/>
          </a:blip>
          <a:stretch>
            <a:fillRect/>
          </a:stretch>
        </p:blipFill>
        <p:spPr>
          <a:xfrm>
            <a:off x="152400" y="1505688"/>
            <a:ext cx="8839204" cy="2132113"/>
          </a:xfrm>
          <a:prstGeom prst="rect">
            <a:avLst/>
          </a:prstGeom>
          <a:noFill/>
          <a:ln>
            <a:noFill/>
          </a:ln>
        </p:spPr>
      </p:pic>
      <p:sp>
        <p:nvSpPr>
          <p:cNvPr id="185" name="Google Shape;185;p18"/>
          <p:cNvSpPr/>
          <p:nvPr/>
        </p:nvSpPr>
        <p:spPr>
          <a:xfrm>
            <a:off x="634975" y="3314100"/>
            <a:ext cx="972300" cy="264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